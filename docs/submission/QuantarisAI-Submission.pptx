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statement. One sentence: QuantarisAI helps someone who has a raw material or a farm decide what factory to build, where, and how to run it clean, then keeps working as the plant's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coconut husk story: 100 kg a day. The three questions on the right are what every new owner 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verbs. Stress the honesty line: judges will see the labels on every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most tools are dashboards for plants that already exist. We start with a sentence and carry through to operations, and we label what is evidence versus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things the user can do today. Everything shown here is built and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left to right. Point out that computed numbers come from ordinary statistics, which is why they can be trusted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Chat-first, like the tools people already use, with a saved-chat sidebar. The right side is the plant and its tabs.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container keeps deployment simple: the browser only talks to the same address. The dashed box is honest: those Google Cloud services are planned,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Gemini and Cloud Run are used. The other Google Cloud services are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slide. We deliberately do not quote a rupee number we have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from the running app, taken in this session with live Gemini.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was measured in this session. The forecast error is on simulated plants, so say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comes from saying what is not done. Keep this slide short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demo video and the live URL before submitting.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problem statement directly. Three directions are real end to end; the rest are built and demonstrable on simulated data, with CSV upload as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promise and the repo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173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rgbClr val="0E1730"/>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C6470"/>
                </a:solidFill>
              </a:rPr>
              <a:t>QuantarisAI  ·  AI Builder Cup</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E17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sleepyowl1208/GoogleHackathon_QuantarisAI" TargetMode="External"/><Relationship Id="rId1"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914400"/>
            <a:ext cx="5486400" cy="320040"/>
          </a:xfrm>
          <a:prstGeom prst="rect">
            <a:avLst/>
          </a:prstGeom>
          <a:noFill/>
          <a:ln/>
        </p:spPr>
        <p:txBody>
          <a:bodyPr wrap="square" lIns="0" tIns="0" rIns="0" bIns="0" rtlCol="0" anchor="ctr"/>
          <a:lstStyle/>
          <a:p>
            <a:pPr indent="0" marL="0">
              <a:buNone/>
            </a:pPr>
            <a:r>
              <a:rPr lang="en-US" sz="1300" b="1" spc="400" kern="0" dirty="0">
                <a:solidFill>
                  <a:srgbClr val="FF9933"/>
                </a:solidFill>
                <a:latin typeface="Calibri" pitchFamily="34" charset="0"/>
                <a:ea typeface="Calibri" pitchFamily="34" charset="-122"/>
                <a:cs typeface="Calibri" pitchFamily="34" charset="-120"/>
              </a:rPr>
              <a:t>AI BUILDER CUP  ·  SUBMISSION</a:t>
            </a:r>
            <a:endParaRPr lang="en-US" sz="1300" dirty="0"/>
          </a:p>
        </p:txBody>
      </p:sp>
      <p:sp>
        <p:nvSpPr>
          <p:cNvPr id="3" name="Text 1"/>
          <p:cNvSpPr txBox="1"/>
          <p:nvPr/>
        </p:nvSpPr>
        <p:spPr>
          <a:xfrm>
            <a:off x="640080" y="1463040"/>
            <a:ext cx="585216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QuantarisAI</a:t>
            </a:r>
            <a:endParaRPr lang="en-US" sz="6000" dirty="0"/>
          </a:p>
        </p:txBody>
      </p:sp>
      <p:sp>
        <p:nvSpPr>
          <p:cNvPr id="4" name="Text 2"/>
          <p:cNvSpPr txBox="1"/>
          <p:nvPr/>
        </p:nvSpPr>
        <p:spPr>
          <a:xfrm>
            <a:off x="640080" y="2834640"/>
            <a:ext cx="5669280" cy="1280160"/>
          </a:xfrm>
          <a:prstGeom prst="rect">
            <a:avLst/>
          </a:prstGeom>
          <a:noFill/>
          <a:ln/>
        </p:spPr>
        <p:txBody>
          <a:bodyPr wrap="square" lIns="0" tIns="0" rIns="0" bIns="0" rtlCol="0" anchor="t"/>
          <a:lstStyle/>
          <a:p>
            <a:pPr indent="0" marL="0">
              <a:buNone/>
            </a:pPr>
            <a:r>
              <a:rPr lang="en-US" sz="2400" dirty="0">
                <a:solidFill>
                  <a:srgbClr val="E7ECF5"/>
                </a:solidFill>
                <a:latin typeface="Calibri" pitchFamily="34" charset="0"/>
                <a:ea typeface="Calibri" pitchFamily="34" charset="-122"/>
                <a:cs typeface="Calibri" pitchFamily="34" charset="-120"/>
              </a:rPr>
              <a:t>AI manufacturing intelligence: from one sentence to a plant that runs clean</a:t>
            </a:r>
            <a:endParaRPr lang="en-US" sz="2400" dirty="0"/>
          </a:p>
        </p:txBody>
      </p:sp>
      <p:pic>
        <p:nvPicPr>
          <p:cNvPr id="5" name="Image 0" descr="gears icon">    </p:cNvPr>
          <p:cNvPicPr>
            <a:picLocks noChangeAspect="1"/>
          </p:cNvPicPr>
          <p:nvPr/>
        </p:nvPicPr>
        <p:blipFill>
          <a:blip r:embed="rId1"/>
          <a:stretch>
            <a:fillRect/>
          </a:stretch>
        </p:blipFill>
        <p:spPr>
          <a:xfrm>
            <a:off x="640080" y="4937760"/>
            <a:ext cx="640080" cy="640080"/>
          </a:xfrm>
          <a:prstGeom prst="rect">
            <a:avLst/>
          </a:prstGeom>
        </p:spPr>
      </p:pic>
      <p:sp>
        <p:nvSpPr>
          <p:cNvPr id="6" name="team card"/>
          <p:cNvSpPr/>
          <p:nvPr/>
        </p:nvSpPr>
        <p:spPr>
          <a:xfrm>
            <a:off x="6766560" y="822960"/>
            <a:ext cx="4846320" cy="5212080"/>
          </a:xfrm>
          <a:prstGeom prst="roundRect">
            <a:avLst>
              <a:gd name="adj" fmla="val 2264"/>
            </a:avLst>
          </a:prstGeom>
          <a:solidFill>
            <a:srgbClr val="FFFFFF"/>
          </a:solidFill>
          <a:ln w="12700">
            <a:solidFill>
              <a:srgbClr val="FFFFFF"/>
            </a:solidFill>
            <a:prstDash val="solid"/>
          </a:ln>
        </p:spPr>
      </p:sp>
      <p:sp>
        <p:nvSpPr>
          <p:cNvPr id="7" name="Text 4"/>
          <p:cNvSpPr txBox="1"/>
          <p:nvPr/>
        </p:nvSpPr>
        <p:spPr>
          <a:xfrm>
            <a:off x="7132320" y="1051560"/>
            <a:ext cx="4206240" cy="457200"/>
          </a:xfrm>
          <a:prstGeom prst="rect">
            <a:avLst/>
          </a:prstGeom>
          <a:noFill/>
          <a:ln/>
        </p:spPr>
        <p:txBody>
          <a:bodyPr wrap="square" lIns="0" tIns="0" rIns="0" bIns="0" rtlCol="0" anchor="ctr"/>
          <a:lstStyle/>
          <a:p>
            <a:pPr indent="0" marL="0">
              <a:buNone/>
            </a:pPr>
            <a:r>
              <a:rPr lang="en-US" sz="2400" b="1" dirty="0">
                <a:solidFill>
                  <a:srgbClr val="0E1730"/>
                </a:solidFill>
                <a:latin typeface="Cambria" pitchFamily="34" charset="0"/>
                <a:ea typeface="Cambria" pitchFamily="34" charset="-122"/>
                <a:cs typeface="Cambria" pitchFamily="34" charset="-120"/>
              </a:rPr>
              <a:t>Team details</a:t>
            </a:r>
            <a:endParaRPr lang="en-US" sz="2400" dirty="0"/>
          </a:p>
        </p:txBody>
      </p:sp>
      <p:sp>
        <p:nvSpPr>
          <p:cNvPr id="8" name="Text 5"/>
          <p:cNvSpPr txBox="1"/>
          <p:nvPr/>
        </p:nvSpPr>
        <p:spPr>
          <a:xfrm>
            <a:off x="7132320" y="1645920"/>
            <a:ext cx="4206240" cy="4206240"/>
          </a:xfrm>
          <a:prstGeom prst="rect">
            <a:avLst/>
          </a:prstGeom>
          <a:noFill/>
          <a:ln/>
        </p:spPr>
        <p:txBody>
          <a:bodyPr wrap="square" lIns="0" tIns="0" rIns="0" bIns="0" rtlCol="0" anchor="t"/>
          <a:lstStyle/>
          <a:p>
            <a:pPr indent="0" marL="0">
              <a:spcAft>
                <a:spcPts val="800"/>
              </a:spcAft>
              <a:buNone/>
            </a:pPr>
            <a:r>
              <a:rPr lang="en-US" sz="1500" b="1" dirty="0">
                <a:solidFill>
                  <a:srgbClr val="1F2430"/>
                </a:solidFill>
                <a:latin typeface="Calibri" pitchFamily="34" charset="0"/>
                <a:ea typeface="Calibri" pitchFamily="34" charset="-122"/>
                <a:cs typeface="Calibri" pitchFamily="34" charset="-120"/>
              </a:rPr>
              <a:t>1.  Team name: </a:t>
            </a:r>
            <a:pPr indent="0" marL="0">
              <a:spcAft>
                <a:spcPts val="800"/>
              </a:spcAft>
              <a:buNone/>
            </a:pPr>
            <a:r>
              <a:rPr lang="en-US" sz="1500" dirty="0">
                <a:solidFill>
                  <a:srgbClr val="C0392B"/>
                </a:solidFill>
                <a:latin typeface="Calibri" pitchFamily="34" charset="0"/>
                <a:ea typeface="Calibri" pitchFamily="34" charset="-122"/>
                <a:cs typeface="Calibri" pitchFamily="34" charset="-120"/>
              </a:rPr>
              <a:t>[add your team name]</a:t>
            </a:r>
            <a:endParaRPr lang="en-US" sz="1500" dirty="0"/>
          </a:p>
          <a:p>
            <a:pPr indent="0" marL="0">
              <a:spcAft>
                <a:spcPts val="800"/>
              </a:spcAft>
              <a:buNone/>
            </a:pPr>
            <a:r>
              <a:rPr lang="en-US" sz="1500" b="1" dirty="0">
                <a:solidFill>
                  <a:srgbClr val="1F2430"/>
                </a:solidFill>
                <a:latin typeface="Calibri" pitchFamily="34" charset="0"/>
                <a:ea typeface="Calibri" pitchFamily="34" charset="-122"/>
                <a:cs typeface="Calibri" pitchFamily="34" charset="-120"/>
              </a:rPr>
              <a:t>2.  Team leader name: </a:t>
            </a:r>
            <a:pPr indent="0" marL="0">
              <a:spcAft>
                <a:spcPts val="800"/>
              </a:spcAft>
              <a:buNone/>
            </a:pPr>
            <a:r>
              <a:rPr lang="en-US" sz="1500" dirty="0">
                <a:solidFill>
                  <a:srgbClr val="1F2430"/>
                </a:solidFill>
                <a:latin typeface="Calibri" pitchFamily="34" charset="0"/>
                <a:ea typeface="Calibri" pitchFamily="34" charset="-122"/>
                <a:cs typeface="Calibri" pitchFamily="34" charset="-120"/>
              </a:rPr>
              <a:t>Krishna Tandon</a:t>
            </a:r>
            <a:endParaRPr lang="en-US" sz="1500" dirty="0"/>
          </a:p>
          <a:p>
            <a:pPr indent="0" marL="0">
              <a:spcAft>
                <a:spcPts val="800"/>
              </a:spcAft>
              <a:buNone/>
            </a:pPr>
            <a:r>
              <a:rPr lang="en-US" sz="1500" b="1" dirty="0">
                <a:solidFill>
                  <a:srgbClr val="1F2430"/>
                </a:solidFill>
                <a:latin typeface="Calibri" pitchFamily="34" charset="0"/>
                <a:ea typeface="Calibri" pitchFamily="34" charset="-122"/>
                <a:cs typeface="Calibri" pitchFamily="34" charset="-120"/>
              </a:rPr>
              <a:t>3.  Problem statement: </a:t>
            </a:r>
            <a:endParaRPr lang="en-US" sz="1500" dirty="0"/>
          </a:p>
          <a:p>
            <a:pPr indent="0" marL="0">
              <a:spcAft>
                <a:spcPts val="800"/>
              </a:spcAft>
              <a:buNone/>
            </a:pPr>
            <a:r>
              <a:rPr lang="en-US" sz="1500" dirty="0">
                <a:solidFill>
                  <a:srgbClr val="1F2430"/>
                </a:solidFill>
                <a:latin typeface="Calibri" pitchFamily="34" charset="0"/>
                <a:ea typeface="Calibri" pitchFamily="34" charset="-122"/>
                <a:cs typeface="Calibri" pitchFamily="34" charset="-120"/>
              </a:rPr>
              <a:t>Build an AI-powered solution that addresses challenges related to efficiency, quality, reliability, supply and demand, or sustainability across manufacturing and industrial operations. Solutions should demonstrate how AI can transform operational data into meaningful insights, recommendations, or actions.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Most owners start with a material, not a plan</a:t>
            </a:r>
            <a:endParaRPr lang="en-US" sz="3000" dirty="0"/>
          </a:p>
        </p:txBody>
      </p:sp>
      <p:sp>
        <p:nvSpPr>
          <p:cNvPr id="3" name="Text 1"/>
          <p:cNvSpPr txBox="1"/>
          <p:nvPr/>
        </p:nvSpPr>
        <p:spPr>
          <a:xfrm>
            <a:off x="548640" y="1371600"/>
            <a:ext cx="5120640" cy="1645920"/>
          </a:xfrm>
          <a:prstGeom prst="rect">
            <a:avLst/>
          </a:prstGeom>
          <a:noFill/>
          <a:ln/>
        </p:spPr>
        <p:txBody>
          <a:bodyPr wrap="square" lIns="0" tIns="0" rIns="0" bIns="0" rtlCol="0" anchor="t"/>
          <a:lstStyle/>
          <a:p>
            <a:pPr indent="0" marL="0">
              <a:buNone/>
            </a:pPr>
            <a:r>
              <a:rPr lang="en-US" sz="2000" dirty="0">
                <a:solidFill>
                  <a:srgbClr val="1F2430"/>
                </a:solidFill>
                <a:latin typeface="Calibri" pitchFamily="34" charset="0"/>
                <a:ea typeface="Calibri" pitchFamily="34" charset="-122"/>
                <a:cs typeface="Calibri" pitchFamily="34" charset="-120"/>
              </a:rPr>
              <a:t>100 kg of coconut husk every day. Forty cows. A pineapple farm.</a:t>
            </a:r>
            <a:endParaRPr lang="en-US" sz="2000" dirty="0"/>
          </a:p>
          <a:p>
            <a:pPr indent="0" marL="0">
              <a:buNone/>
            </a:pPr>
            <a:r>
              <a:rPr lang="en-US" sz="2000" dirty="0">
                <a:solidFill>
                  <a:srgbClr val="1F2430"/>
                </a:solidFill>
                <a:latin typeface="Calibri" pitchFamily="34" charset="0"/>
                <a:ea typeface="Calibri" pitchFamily="34" charset="-122"/>
                <a:cs typeface="Calibri" pitchFamily="34" charset="-120"/>
              </a:rPr>
              <a:t>The owner has the raw material and the will, but not the answers.</a:t>
            </a:r>
            <a:endParaRPr lang="en-US" sz="2000" dirty="0"/>
          </a:p>
        </p:txBody>
      </p:sp>
      <p:sp>
        <p:nvSpPr>
          <p:cNvPr id="4" name="Text 2"/>
          <p:cNvSpPr txBox="1"/>
          <p:nvPr/>
        </p:nvSpPr>
        <p:spPr>
          <a:xfrm>
            <a:off x="548640" y="3291840"/>
            <a:ext cx="5120640" cy="1371600"/>
          </a:xfrm>
          <a:prstGeom prst="rect">
            <a:avLst/>
          </a:prstGeom>
          <a:noFill/>
          <a:ln/>
        </p:spPr>
        <p:txBody>
          <a:bodyPr wrap="square" lIns="0" tIns="0" rIns="0" bIns="0" rtlCol="0" anchor="t"/>
          <a:lstStyle/>
          <a:p>
            <a:pPr indent="0" marL="0">
              <a:buNone/>
            </a:pPr>
            <a:r>
              <a:rPr lang="en-US" sz="1600" dirty="0">
                <a:solidFill>
                  <a:srgbClr val="5C6470"/>
                </a:solidFill>
                <a:latin typeface="Calibri" pitchFamily="34" charset="0"/>
                <a:ea typeface="Calibri" pitchFamily="34" charset="-122"/>
                <a:cs typeface="Calibri" pitchFamily="34" charset="-120"/>
              </a:rPr>
              <a:t>Today they pay consultants, or guess. Pollution, wasted water and the wrong site are discovered after the money is spent.</a:t>
            </a:r>
            <a:endParaRPr lang="en-US" sz="1600" dirty="0"/>
          </a:p>
        </p:txBody>
      </p:sp>
      <p:sp>
        <p:nvSpPr>
          <p:cNvPr id="5" name="Shape 3"/>
          <p:cNvSpPr/>
          <p:nvPr/>
        </p:nvSpPr>
        <p:spPr>
          <a:xfrm>
            <a:off x="6217920" y="1371600"/>
            <a:ext cx="5394960" cy="1280160"/>
          </a:xfrm>
          <a:prstGeom prst="roundRect">
            <a:avLst>
              <a:gd name="adj" fmla="val 8571"/>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6" name="Image 0" descr="What should I build?">    </p:cNvPr>
          <p:cNvPicPr>
            <a:picLocks noChangeAspect="1"/>
          </p:cNvPicPr>
          <p:nvPr/>
        </p:nvPicPr>
        <p:blipFill>
          <a:blip r:embed="rId1"/>
          <a:stretch>
            <a:fillRect/>
          </a:stretch>
        </p:blipFill>
        <p:spPr>
          <a:xfrm>
            <a:off x="6492240" y="1737360"/>
            <a:ext cx="548640" cy="548640"/>
          </a:xfrm>
          <a:prstGeom prst="rect">
            <a:avLst/>
          </a:prstGeom>
        </p:spPr>
      </p:pic>
      <p:sp>
        <p:nvSpPr>
          <p:cNvPr id="7" name="Text 4"/>
          <p:cNvSpPr txBox="1"/>
          <p:nvPr/>
        </p:nvSpPr>
        <p:spPr>
          <a:xfrm>
            <a:off x="7315200" y="1600200"/>
            <a:ext cx="4114800" cy="411480"/>
          </a:xfrm>
          <a:prstGeom prst="rect">
            <a:avLst/>
          </a:prstGeom>
          <a:noFill/>
          <a:ln/>
        </p:spPr>
        <p:txBody>
          <a:bodyPr wrap="square" lIns="0" tIns="0" rIns="0" bIns="0" rtlCol="0" anchor="ctr"/>
          <a:lstStyle/>
          <a:p>
            <a:pPr indent="0" marL="0">
              <a:buNone/>
            </a:pPr>
            <a:r>
              <a:rPr lang="en-US" sz="2000" b="1" dirty="0">
                <a:solidFill>
                  <a:srgbClr val="0E1730"/>
                </a:solidFill>
                <a:latin typeface="Calibri" pitchFamily="34" charset="0"/>
                <a:ea typeface="Calibri" pitchFamily="34" charset="-122"/>
                <a:cs typeface="Calibri" pitchFamily="34" charset="-120"/>
              </a:rPr>
              <a:t>What should I build?</a:t>
            </a:r>
            <a:endParaRPr lang="en-US" sz="2000" dirty="0"/>
          </a:p>
        </p:txBody>
      </p:sp>
      <p:sp>
        <p:nvSpPr>
          <p:cNvPr id="8" name="Text 5"/>
          <p:cNvSpPr txBox="1"/>
          <p:nvPr/>
        </p:nvSpPr>
        <p:spPr>
          <a:xfrm>
            <a:off x="7315200" y="2057400"/>
            <a:ext cx="4114800"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Which product, which steps, which machines</a:t>
            </a:r>
            <a:endParaRPr lang="en-US" sz="1500" dirty="0"/>
          </a:p>
        </p:txBody>
      </p:sp>
      <p:sp>
        <p:nvSpPr>
          <p:cNvPr id="9" name="Shape 6"/>
          <p:cNvSpPr/>
          <p:nvPr/>
        </p:nvSpPr>
        <p:spPr>
          <a:xfrm>
            <a:off x="6217920" y="2926080"/>
            <a:ext cx="5394960" cy="1280160"/>
          </a:xfrm>
          <a:prstGeom prst="roundRect">
            <a:avLst>
              <a:gd name="adj" fmla="val 8571"/>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0" name="Image 1" descr="Where should I build it?">    </p:cNvPr>
          <p:cNvPicPr>
            <a:picLocks noChangeAspect="1"/>
          </p:cNvPicPr>
          <p:nvPr/>
        </p:nvPicPr>
        <p:blipFill>
          <a:blip r:embed="rId2"/>
          <a:stretch>
            <a:fillRect/>
          </a:stretch>
        </p:blipFill>
        <p:spPr>
          <a:xfrm>
            <a:off x="6492240" y="3291840"/>
            <a:ext cx="548640" cy="548640"/>
          </a:xfrm>
          <a:prstGeom prst="rect">
            <a:avLst/>
          </a:prstGeom>
        </p:spPr>
      </p:pic>
      <p:sp>
        <p:nvSpPr>
          <p:cNvPr id="11" name="Text 7"/>
          <p:cNvSpPr txBox="1"/>
          <p:nvPr/>
        </p:nvSpPr>
        <p:spPr>
          <a:xfrm>
            <a:off x="7315200" y="3154680"/>
            <a:ext cx="4114800" cy="411480"/>
          </a:xfrm>
          <a:prstGeom prst="rect">
            <a:avLst/>
          </a:prstGeom>
          <a:noFill/>
          <a:ln/>
        </p:spPr>
        <p:txBody>
          <a:bodyPr wrap="square" lIns="0" tIns="0" rIns="0" bIns="0" rtlCol="0" anchor="ctr"/>
          <a:lstStyle/>
          <a:p>
            <a:pPr indent="0" marL="0">
              <a:buNone/>
            </a:pPr>
            <a:r>
              <a:rPr lang="en-US" sz="2000" b="1" dirty="0">
                <a:solidFill>
                  <a:srgbClr val="0E1730"/>
                </a:solidFill>
                <a:latin typeface="Calibri" pitchFamily="34" charset="0"/>
                <a:ea typeface="Calibri" pitchFamily="34" charset="-122"/>
                <a:cs typeface="Calibri" pitchFamily="34" charset="-120"/>
              </a:rPr>
              <a:t>Where should I build it?</a:t>
            </a:r>
            <a:endParaRPr lang="en-US" sz="2000" dirty="0"/>
          </a:p>
        </p:txBody>
      </p:sp>
      <p:sp>
        <p:nvSpPr>
          <p:cNvPr id="12" name="Text 8"/>
          <p:cNvSpPr txBox="1"/>
          <p:nvPr/>
        </p:nvSpPr>
        <p:spPr>
          <a:xfrm>
            <a:off x="7315200" y="3611880"/>
            <a:ext cx="4114800"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Which area, which sources, what it costs</a:t>
            </a:r>
            <a:endParaRPr lang="en-US" sz="1500" dirty="0"/>
          </a:p>
        </p:txBody>
      </p:sp>
      <p:sp>
        <p:nvSpPr>
          <p:cNvPr id="13" name="Shape 9"/>
          <p:cNvSpPr/>
          <p:nvPr/>
        </p:nvSpPr>
        <p:spPr>
          <a:xfrm>
            <a:off x="6217920" y="4480560"/>
            <a:ext cx="5394960" cy="1280160"/>
          </a:xfrm>
          <a:prstGeom prst="roundRect">
            <a:avLst>
              <a:gd name="adj" fmla="val 8571"/>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4" name="Image 2" descr="How do I run it clean?">    </p:cNvPr>
          <p:cNvPicPr>
            <a:picLocks noChangeAspect="1"/>
          </p:cNvPicPr>
          <p:nvPr/>
        </p:nvPicPr>
        <p:blipFill>
          <a:blip r:embed="rId3"/>
          <a:stretch>
            <a:fillRect/>
          </a:stretch>
        </p:blipFill>
        <p:spPr>
          <a:xfrm>
            <a:off x="6492240" y="4846320"/>
            <a:ext cx="548640" cy="548640"/>
          </a:xfrm>
          <a:prstGeom prst="rect">
            <a:avLst/>
          </a:prstGeom>
        </p:spPr>
      </p:pic>
      <p:sp>
        <p:nvSpPr>
          <p:cNvPr id="15" name="Text 10"/>
          <p:cNvSpPr txBox="1"/>
          <p:nvPr/>
        </p:nvSpPr>
        <p:spPr>
          <a:xfrm>
            <a:off x="7315200" y="4709160"/>
            <a:ext cx="4114800" cy="411480"/>
          </a:xfrm>
          <a:prstGeom prst="rect">
            <a:avLst/>
          </a:prstGeom>
          <a:noFill/>
          <a:ln/>
        </p:spPr>
        <p:txBody>
          <a:bodyPr wrap="square" lIns="0" tIns="0" rIns="0" bIns="0" rtlCol="0" anchor="ctr"/>
          <a:lstStyle/>
          <a:p>
            <a:pPr indent="0" marL="0">
              <a:buNone/>
            </a:pPr>
            <a:r>
              <a:rPr lang="en-US" sz="2000" b="1" dirty="0">
                <a:solidFill>
                  <a:srgbClr val="0E1730"/>
                </a:solidFill>
                <a:latin typeface="Calibri" pitchFamily="34" charset="0"/>
                <a:ea typeface="Calibri" pitchFamily="34" charset="-122"/>
                <a:cs typeface="Calibri" pitchFamily="34" charset="-120"/>
              </a:rPr>
              <a:t>How do I run it clean?</a:t>
            </a:r>
            <a:endParaRPr lang="en-US" sz="2000" dirty="0"/>
          </a:p>
        </p:txBody>
      </p:sp>
      <p:sp>
        <p:nvSpPr>
          <p:cNvPr id="16" name="Text 11"/>
          <p:cNvSpPr txBox="1"/>
          <p:nvPr/>
        </p:nvSpPr>
        <p:spPr>
          <a:xfrm>
            <a:off x="7315200" y="5166360"/>
            <a:ext cx="4114800"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Water, smoke and waste: what can be reused</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QuantarisAI plans it, places it, then helps run it clean</a:t>
            </a:r>
            <a:endParaRPr lang="en-US" sz="3000" dirty="0"/>
          </a:p>
        </p:txBody>
      </p:sp>
      <p:sp>
        <p:nvSpPr>
          <p:cNvPr id="3" name="Shape 1"/>
          <p:cNvSpPr/>
          <p:nvPr/>
        </p:nvSpPr>
        <p:spPr>
          <a:xfrm>
            <a:off x="548640" y="1417320"/>
            <a:ext cx="3566160" cy="3383280"/>
          </a:xfrm>
          <a:prstGeom prst="roundRect">
            <a:avLst>
              <a:gd name="adj" fmla="val 324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4" name="Image 0" descr="Plan">    </p:cNvPr>
          <p:cNvPicPr>
            <a:picLocks noChangeAspect="1"/>
          </p:cNvPicPr>
          <p:nvPr/>
        </p:nvPicPr>
        <p:blipFill>
          <a:blip r:embed="rId1"/>
          <a:stretch>
            <a:fillRect/>
          </a:stretch>
        </p:blipFill>
        <p:spPr>
          <a:xfrm>
            <a:off x="822960" y="1691640"/>
            <a:ext cx="594360" cy="594360"/>
          </a:xfrm>
          <a:prstGeom prst="rect">
            <a:avLst/>
          </a:prstGeom>
        </p:spPr>
      </p:pic>
      <p:sp>
        <p:nvSpPr>
          <p:cNvPr id="5" name="Text 2"/>
          <p:cNvSpPr txBox="1"/>
          <p:nvPr/>
        </p:nvSpPr>
        <p:spPr>
          <a:xfrm>
            <a:off x="1600200" y="1737360"/>
            <a:ext cx="2286000" cy="502920"/>
          </a:xfrm>
          <a:prstGeom prst="rect">
            <a:avLst/>
          </a:prstGeom>
          <a:noFill/>
          <a:ln/>
        </p:spPr>
        <p:txBody>
          <a:bodyPr wrap="square" lIns="0" tIns="0" rIns="0" bIns="0" rtlCol="0" anchor="ctr"/>
          <a:lstStyle/>
          <a:p>
            <a:pPr indent="0" marL="0">
              <a:buNone/>
            </a:pPr>
            <a:r>
              <a:rPr lang="en-US" sz="2400" b="1" dirty="0">
                <a:solidFill>
                  <a:srgbClr val="0E1730"/>
                </a:solidFill>
                <a:latin typeface="Cambria" pitchFamily="34" charset="0"/>
                <a:ea typeface="Cambria" pitchFamily="34" charset="-122"/>
                <a:cs typeface="Cambria" pitchFamily="34" charset="-120"/>
              </a:rPr>
              <a:t>Plan</a:t>
            </a:r>
            <a:endParaRPr lang="en-US" sz="2400" dirty="0"/>
          </a:p>
        </p:txBody>
      </p:sp>
      <p:sp>
        <p:nvSpPr>
          <p:cNvPr id="6" name="Text 3"/>
          <p:cNvSpPr txBox="1"/>
          <p:nvPr/>
        </p:nvSpPr>
        <p:spPr>
          <a:xfrm>
            <a:off x="822960" y="2514600"/>
            <a:ext cx="3063240" cy="21031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Describe a factory in English or Hindi. Get a researched blueprint: steps, machines, a 3D plant with raw material arriving and product leaving, and a farm beside the gate.</a:t>
            </a:r>
            <a:endParaRPr lang="en-US" sz="1500" dirty="0"/>
          </a:p>
        </p:txBody>
      </p:sp>
      <p:sp>
        <p:nvSpPr>
          <p:cNvPr id="7" name="Shape 4"/>
          <p:cNvSpPr/>
          <p:nvPr/>
        </p:nvSpPr>
        <p:spPr>
          <a:xfrm>
            <a:off x="4315968" y="1417320"/>
            <a:ext cx="3566160" cy="3383280"/>
          </a:xfrm>
          <a:prstGeom prst="roundRect">
            <a:avLst>
              <a:gd name="adj" fmla="val 324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8" name="Image 1" descr="Place">    </p:cNvPr>
          <p:cNvPicPr>
            <a:picLocks noChangeAspect="1"/>
          </p:cNvPicPr>
          <p:nvPr/>
        </p:nvPicPr>
        <p:blipFill>
          <a:blip r:embed="rId2"/>
          <a:stretch>
            <a:fillRect/>
          </a:stretch>
        </p:blipFill>
        <p:spPr>
          <a:xfrm>
            <a:off x="4590288" y="1691640"/>
            <a:ext cx="594360" cy="594360"/>
          </a:xfrm>
          <a:prstGeom prst="rect">
            <a:avLst/>
          </a:prstGeom>
        </p:spPr>
      </p:pic>
      <p:sp>
        <p:nvSpPr>
          <p:cNvPr id="9" name="Text 5"/>
          <p:cNvSpPr txBox="1"/>
          <p:nvPr/>
        </p:nvSpPr>
        <p:spPr>
          <a:xfrm>
            <a:off x="5367528" y="1737360"/>
            <a:ext cx="2286000" cy="502920"/>
          </a:xfrm>
          <a:prstGeom prst="rect">
            <a:avLst/>
          </a:prstGeom>
          <a:noFill/>
          <a:ln/>
        </p:spPr>
        <p:txBody>
          <a:bodyPr wrap="square" lIns="0" tIns="0" rIns="0" bIns="0" rtlCol="0" anchor="ctr"/>
          <a:lstStyle/>
          <a:p>
            <a:pPr indent="0" marL="0">
              <a:buNone/>
            </a:pPr>
            <a:r>
              <a:rPr lang="en-US" sz="2400" b="1" dirty="0">
                <a:solidFill>
                  <a:srgbClr val="0E1730"/>
                </a:solidFill>
                <a:latin typeface="Cambria" pitchFamily="34" charset="0"/>
                <a:ea typeface="Cambria" pitchFamily="34" charset="-122"/>
                <a:cs typeface="Cambria" pitchFamily="34" charset="-120"/>
              </a:rPr>
              <a:t>Place</a:t>
            </a:r>
            <a:endParaRPr lang="en-US" sz="2400" dirty="0"/>
          </a:p>
        </p:txBody>
      </p:sp>
      <p:sp>
        <p:nvSpPr>
          <p:cNvPr id="10" name="Text 6"/>
          <p:cNvSpPr txBox="1"/>
          <p:nvPr/>
        </p:nvSpPr>
        <p:spPr>
          <a:xfrm>
            <a:off x="4590288" y="2514600"/>
            <a:ext cx="3063240" cy="21031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Find the best areas in your city with sources and a map, the nearest suppliers, indicative machine prices and land options.</a:t>
            </a:r>
            <a:endParaRPr lang="en-US" sz="1500" dirty="0"/>
          </a:p>
        </p:txBody>
      </p:sp>
      <p:sp>
        <p:nvSpPr>
          <p:cNvPr id="11" name="Shape 7"/>
          <p:cNvSpPr/>
          <p:nvPr/>
        </p:nvSpPr>
        <p:spPr>
          <a:xfrm>
            <a:off x="8083296" y="1417320"/>
            <a:ext cx="3566160" cy="3383280"/>
          </a:xfrm>
          <a:prstGeom prst="roundRect">
            <a:avLst>
              <a:gd name="adj" fmla="val 324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2" name="Image 2" descr="Run clean">    </p:cNvPr>
          <p:cNvPicPr>
            <a:picLocks noChangeAspect="1"/>
          </p:cNvPicPr>
          <p:nvPr/>
        </p:nvPicPr>
        <p:blipFill>
          <a:blip r:embed="rId3"/>
          <a:stretch>
            <a:fillRect/>
          </a:stretch>
        </p:blipFill>
        <p:spPr>
          <a:xfrm>
            <a:off x="8357616" y="1691640"/>
            <a:ext cx="594360" cy="594360"/>
          </a:xfrm>
          <a:prstGeom prst="rect">
            <a:avLst/>
          </a:prstGeom>
        </p:spPr>
      </p:pic>
      <p:sp>
        <p:nvSpPr>
          <p:cNvPr id="13" name="Text 8"/>
          <p:cNvSpPr txBox="1"/>
          <p:nvPr/>
        </p:nvSpPr>
        <p:spPr>
          <a:xfrm>
            <a:off x="9134856" y="1737360"/>
            <a:ext cx="2286000" cy="502920"/>
          </a:xfrm>
          <a:prstGeom prst="rect">
            <a:avLst/>
          </a:prstGeom>
          <a:noFill/>
          <a:ln/>
        </p:spPr>
        <p:txBody>
          <a:bodyPr wrap="square" lIns="0" tIns="0" rIns="0" bIns="0" rtlCol="0" anchor="ctr"/>
          <a:lstStyle/>
          <a:p>
            <a:pPr indent="0" marL="0">
              <a:buNone/>
            </a:pPr>
            <a:r>
              <a:rPr lang="en-US" sz="2400" b="1" dirty="0">
                <a:solidFill>
                  <a:srgbClr val="0E1730"/>
                </a:solidFill>
                <a:latin typeface="Cambria" pitchFamily="34" charset="0"/>
                <a:ea typeface="Cambria" pitchFamily="34" charset="-122"/>
                <a:cs typeface="Cambria" pitchFamily="34" charset="-120"/>
              </a:rPr>
              <a:t>Run clean</a:t>
            </a:r>
            <a:endParaRPr lang="en-US" sz="2400" dirty="0"/>
          </a:p>
        </p:txBody>
      </p:sp>
      <p:sp>
        <p:nvSpPr>
          <p:cNvPr id="14" name="Text 9"/>
          <p:cNvSpPr txBox="1"/>
          <p:nvPr/>
        </p:nvSpPr>
        <p:spPr>
          <a:xfrm>
            <a:off x="8357616" y="2514600"/>
            <a:ext cx="3063240" cy="2103120"/>
          </a:xfrm>
          <a:prstGeom prst="rect">
            <a:avLst/>
          </a:prstGeom>
          <a:noFill/>
          <a:ln/>
        </p:spPr>
        <p:txBody>
          <a:bodyPr wrap="square" lIns="0" tIns="0" rIns="0" bIns="0" rtlCol="0" anchor="t"/>
          <a:lstStyle/>
          <a:p>
            <a:pPr indent="0" marL="0">
              <a:buNone/>
            </a:pPr>
            <a:r>
              <a:rPr lang="en-US" sz="1500" dirty="0">
                <a:solidFill>
                  <a:srgbClr val="1F2430"/>
                </a:solidFill>
                <a:latin typeface="Calibri" pitchFamily="34" charset="0"/>
                <a:ea typeface="Calibri" pitchFamily="34" charset="-122"/>
                <a:cs typeface="Calibri" pitchFamily="34" charset="-120"/>
              </a:rPr>
              <a:t>See how water, smoke and waste can be reused, then load your own plant records: AI finds the leak, the weak machine, the quality drift.</a:t>
            </a:r>
            <a:endParaRPr lang="en-US" sz="1500" dirty="0"/>
          </a:p>
        </p:txBody>
      </p:sp>
      <p:sp>
        <p:nvSpPr>
          <p:cNvPr id="15" name="Shape 10"/>
          <p:cNvSpPr/>
          <p:nvPr/>
        </p:nvSpPr>
        <p:spPr>
          <a:xfrm>
            <a:off x="548640" y="5074920"/>
            <a:ext cx="11064240" cy="1051560"/>
          </a:xfrm>
          <a:prstGeom prst="roundRect">
            <a:avLst>
              <a:gd name="adj" fmla="val 10435"/>
            </a:avLst>
          </a:prstGeom>
          <a:solidFill>
            <a:srgbClr val="EAF5E8"/>
          </a:solidFill>
          <a:ln w="12700">
            <a:solidFill>
              <a:srgbClr val="BFE0BA"/>
            </a:solidFill>
            <a:prstDash val="solid"/>
          </a:ln>
          <a:effectLst>
            <a:outerShdw sx="100000" sy="100000" kx="0" ky="0" algn="bl" rotWithShape="0" blurRad="101600" dist="25400" dir="5400000">
              <a:srgbClr val="000000">
                <a:alpha val="12000"/>
              </a:srgbClr>
            </a:outerShdw>
          </a:effectLst>
        </p:spPr>
      </p:sp>
      <p:sp>
        <p:nvSpPr>
          <p:cNvPr id="16" name="Text 11"/>
          <p:cNvSpPr txBox="1"/>
          <p:nvPr/>
        </p:nvSpPr>
        <p:spPr>
          <a:xfrm>
            <a:off x="822960" y="5166360"/>
            <a:ext cx="10515600" cy="868680"/>
          </a:xfrm>
          <a:prstGeom prst="rect">
            <a:avLst/>
          </a:prstGeom>
          <a:noFill/>
          <a:ln/>
        </p:spPr>
        <p:txBody>
          <a:bodyPr wrap="square" lIns="0" tIns="0" rIns="0" bIns="0" rtlCol="0" anchor="ctr"/>
          <a:lstStyle/>
          <a:p>
            <a:pPr indent="0" marL="0">
              <a:buNone/>
            </a:pPr>
            <a:r>
              <a:rPr lang="en-US" sz="1600" b="1" dirty="0">
                <a:solidFill>
                  <a:srgbClr val="138808"/>
                </a:solidFill>
                <a:latin typeface="Calibri" pitchFamily="34" charset="0"/>
                <a:ea typeface="Calibri" pitchFamily="34" charset="-122"/>
                <a:cs typeface="Calibri" pitchFamily="34" charset="-120"/>
              </a:rPr>
              <a:t>Honest by design. </a:t>
            </a:r>
            <a:pPr indent="0" marL="0">
              <a:buNone/>
            </a:pPr>
            <a:r>
              <a:rPr lang="en-US" sz="1600" dirty="0">
                <a:solidFill>
                  <a:srgbClr val="1F2430"/>
                </a:solidFill>
                <a:latin typeface="Calibri" pitchFamily="34" charset="0"/>
                <a:ea typeface="Calibri" pitchFamily="34" charset="-122"/>
                <a:cs typeface="Calibri" pitchFamily="34" charset="-120"/>
              </a:rPr>
              <a:t>Every claim is labelled fact, assumption, calculation, idea to validate, simulation or unknown. Where data is simulated or a figure is unknown, the app says so.</a:t>
            </a:r>
            <a:endParaRPr lang="en-US" sz="16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Opportunities: why this is different and why it works</a:t>
            </a:r>
            <a:endParaRPr lang="en-US" sz="3000" dirty="0"/>
          </a:p>
        </p:txBody>
      </p:sp>
      <p:sp>
        <p:nvSpPr>
          <p:cNvPr id="3" name="Shape 1"/>
          <p:cNvSpPr/>
          <p:nvPr/>
        </p:nvSpPr>
        <p:spPr>
          <a:xfrm>
            <a:off x="548640" y="1417320"/>
            <a:ext cx="3566160" cy="4663440"/>
          </a:xfrm>
          <a:prstGeom prst="roundRect">
            <a:avLst>
              <a:gd name="adj" fmla="val 3077"/>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645920"/>
            <a:ext cx="3017520" cy="548640"/>
          </a:xfrm>
          <a:prstGeom prst="rect">
            <a:avLst/>
          </a:prstGeom>
          <a:noFill/>
          <a:ln/>
        </p:spPr>
        <p:txBody>
          <a:bodyPr wrap="square" lIns="0" tIns="0" rIns="0" bIns="0" rtlCol="0" anchor="t"/>
          <a:lstStyle/>
          <a:p>
            <a:pPr indent="0" marL="0">
              <a:buNone/>
            </a:pPr>
            <a:r>
              <a:rPr lang="en-US" sz="2000" b="1" dirty="0">
                <a:solidFill>
                  <a:srgbClr val="0E1730"/>
                </a:solidFill>
                <a:latin typeface="Cambria" pitchFamily="34" charset="0"/>
                <a:ea typeface="Cambria" pitchFamily="34" charset="-122"/>
                <a:cs typeface="Cambria" pitchFamily="34" charset="-120"/>
              </a:rPr>
              <a:t>How is it different?</a:t>
            </a:r>
            <a:endParaRPr lang="en-US" sz="2000" dirty="0"/>
          </a:p>
        </p:txBody>
      </p:sp>
      <p:sp>
        <p:nvSpPr>
          <p:cNvPr id="5" name="Text 3"/>
          <p:cNvSpPr txBox="1"/>
          <p:nvPr/>
        </p:nvSpPr>
        <p:spPr>
          <a:xfrm>
            <a:off x="822960" y="2331720"/>
            <a:ext cx="3063240" cy="35661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Starts before the factory exists, then follows it into operations</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Researches real places and suppliers with Google Search, with source links</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Shows the evidence: fact, assumption, calculation, or unknown</a:t>
            </a:r>
            <a:endParaRPr lang="en-US" sz="1500" dirty="0"/>
          </a:p>
        </p:txBody>
      </p:sp>
      <p:sp>
        <p:nvSpPr>
          <p:cNvPr id="6" name="Shape 4"/>
          <p:cNvSpPr/>
          <p:nvPr/>
        </p:nvSpPr>
        <p:spPr>
          <a:xfrm>
            <a:off x="4315968" y="1417320"/>
            <a:ext cx="3566160" cy="4663440"/>
          </a:xfrm>
          <a:prstGeom prst="roundRect">
            <a:avLst>
              <a:gd name="adj" fmla="val 3077"/>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590288" y="1645920"/>
            <a:ext cx="3017520" cy="548640"/>
          </a:xfrm>
          <a:prstGeom prst="rect">
            <a:avLst/>
          </a:prstGeom>
          <a:noFill/>
          <a:ln/>
        </p:spPr>
        <p:txBody>
          <a:bodyPr wrap="square" lIns="0" tIns="0" rIns="0" bIns="0" rtlCol="0" anchor="t"/>
          <a:lstStyle/>
          <a:p>
            <a:pPr indent="0" marL="0">
              <a:buNone/>
            </a:pPr>
            <a:r>
              <a:rPr lang="en-US" sz="2000" b="1" dirty="0">
                <a:solidFill>
                  <a:srgbClr val="0E1730"/>
                </a:solidFill>
                <a:latin typeface="Cambria" pitchFamily="34" charset="0"/>
                <a:ea typeface="Cambria" pitchFamily="34" charset="-122"/>
                <a:cs typeface="Cambria" pitchFamily="34" charset="-120"/>
              </a:rPr>
              <a:t>How does it solve the problem?</a:t>
            </a:r>
            <a:endParaRPr lang="en-US" sz="2000" dirty="0"/>
          </a:p>
        </p:txBody>
      </p:sp>
      <p:sp>
        <p:nvSpPr>
          <p:cNvPr id="8" name="Text 6"/>
          <p:cNvSpPr txBox="1"/>
          <p:nvPr/>
        </p:nvSpPr>
        <p:spPr>
          <a:xfrm>
            <a:off x="4590288" y="2331720"/>
            <a:ext cx="3063240" cy="35661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Efficiency: bottleneck and OEE</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Quality: photo inspection, defect drift</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Reliability: failing machines found early</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Supply and demand: sources, 13-week forecast</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Sustainability: reuse loops, smoke and water with AI</a:t>
            </a:r>
            <a:endParaRPr lang="en-US" sz="1500" dirty="0"/>
          </a:p>
        </p:txBody>
      </p:sp>
      <p:sp>
        <p:nvSpPr>
          <p:cNvPr id="9" name="Shape 7"/>
          <p:cNvSpPr/>
          <p:nvPr/>
        </p:nvSpPr>
        <p:spPr>
          <a:xfrm>
            <a:off x="8083296" y="1417320"/>
            <a:ext cx="3566160" cy="4663440"/>
          </a:xfrm>
          <a:prstGeom prst="roundRect">
            <a:avLst>
              <a:gd name="adj" fmla="val 3077"/>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357616" y="1645920"/>
            <a:ext cx="3017520" cy="548640"/>
          </a:xfrm>
          <a:prstGeom prst="rect">
            <a:avLst/>
          </a:prstGeom>
          <a:noFill/>
          <a:ln/>
        </p:spPr>
        <p:txBody>
          <a:bodyPr wrap="square" lIns="0" tIns="0" rIns="0" bIns="0" rtlCol="0" anchor="t"/>
          <a:lstStyle/>
          <a:p>
            <a:pPr indent="0" marL="0">
              <a:buNone/>
            </a:pPr>
            <a:r>
              <a:rPr lang="en-US" sz="2000" b="1" dirty="0">
                <a:solidFill>
                  <a:srgbClr val="0E1730"/>
                </a:solidFill>
                <a:latin typeface="Cambria" pitchFamily="34" charset="0"/>
                <a:ea typeface="Cambria" pitchFamily="34" charset="-122"/>
                <a:cs typeface="Cambria" pitchFamily="34" charset="-120"/>
              </a:rPr>
              <a:t>Our USP</a:t>
            </a:r>
            <a:endParaRPr lang="en-US" sz="2000" dirty="0"/>
          </a:p>
        </p:txBody>
      </p:sp>
      <p:sp>
        <p:nvSpPr>
          <p:cNvPr id="11" name="Text 9"/>
          <p:cNvSpPr txBox="1"/>
          <p:nvPr/>
        </p:nvSpPr>
        <p:spPr>
          <a:xfrm>
            <a:off x="8357616" y="2331720"/>
            <a:ext cx="3063240" cy="356616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One tool from idea to operations, in plain words</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English and Hindi, voice and text</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Works on the owner's own CSV, not only demos</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Gemini plus Google Search, with guardrails</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What the solution offers</a:t>
            </a:r>
            <a:endParaRPr lang="en-US" sz="3000" dirty="0"/>
          </a:p>
        </p:txBody>
      </p:sp>
      <p:sp>
        <p:nvSpPr>
          <p:cNvPr id="3" name="Shape 1"/>
          <p:cNvSpPr/>
          <p:nvPr/>
        </p:nvSpPr>
        <p:spPr>
          <a:xfrm>
            <a:off x="548640" y="146304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4" name="Image 0" descr="Chat-first design">    </p:cNvPr>
          <p:cNvPicPr>
            <a:picLocks noChangeAspect="1"/>
          </p:cNvPicPr>
          <p:nvPr/>
        </p:nvPicPr>
        <p:blipFill>
          <a:blip r:embed="rId1"/>
          <a:stretch>
            <a:fillRect/>
          </a:stretch>
        </p:blipFill>
        <p:spPr>
          <a:xfrm>
            <a:off x="777240" y="1691640"/>
            <a:ext cx="502920" cy="502920"/>
          </a:xfrm>
          <a:prstGeom prst="rect">
            <a:avLst/>
          </a:prstGeom>
        </p:spPr>
      </p:pic>
      <p:sp>
        <p:nvSpPr>
          <p:cNvPr id="5" name="Text 2"/>
          <p:cNvSpPr txBox="1"/>
          <p:nvPr/>
        </p:nvSpPr>
        <p:spPr>
          <a:xfrm>
            <a:off x="777240" y="233172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Chat-first design</a:t>
            </a:r>
            <a:endParaRPr lang="en-US" sz="1700" dirty="0"/>
          </a:p>
        </p:txBody>
      </p:sp>
      <p:sp>
        <p:nvSpPr>
          <p:cNvPr id="6" name="Text 3"/>
          <p:cNvSpPr txBox="1"/>
          <p:nvPr/>
        </p:nvSpPr>
        <p:spPr>
          <a:xfrm>
            <a:off x="777240" y="274320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English and Hindi, voice or text, edit the plant by speaking</a:t>
            </a:r>
            <a:endParaRPr lang="en-US" sz="1400" dirty="0"/>
          </a:p>
        </p:txBody>
      </p:sp>
      <p:sp>
        <p:nvSpPr>
          <p:cNvPr id="7" name="Shape 4"/>
          <p:cNvSpPr/>
          <p:nvPr/>
        </p:nvSpPr>
        <p:spPr>
          <a:xfrm>
            <a:off x="3355848" y="146304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8" name="Image 1" descr="3D plant">    </p:cNvPr>
          <p:cNvPicPr>
            <a:picLocks noChangeAspect="1"/>
          </p:cNvPicPr>
          <p:nvPr/>
        </p:nvPicPr>
        <p:blipFill>
          <a:blip r:embed="rId2"/>
          <a:stretch>
            <a:fillRect/>
          </a:stretch>
        </p:blipFill>
        <p:spPr>
          <a:xfrm>
            <a:off x="3584448" y="1691640"/>
            <a:ext cx="502920" cy="502920"/>
          </a:xfrm>
          <a:prstGeom prst="rect">
            <a:avLst/>
          </a:prstGeom>
        </p:spPr>
      </p:pic>
      <p:sp>
        <p:nvSpPr>
          <p:cNvPr id="9" name="Text 5"/>
          <p:cNvSpPr txBox="1"/>
          <p:nvPr/>
        </p:nvSpPr>
        <p:spPr>
          <a:xfrm>
            <a:off x="3584448" y="233172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3D plant</a:t>
            </a:r>
            <a:endParaRPr lang="en-US" sz="1700" dirty="0"/>
          </a:p>
        </p:txBody>
      </p:sp>
      <p:sp>
        <p:nvSpPr>
          <p:cNvPr id="10" name="Text 6"/>
          <p:cNvSpPr txBox="1"/>
          <p:nvPr/>
        </p:nvSpPr>
        <p:spPr>
          <a:xfrm>
            <a:off x="3584448" y="274320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Raw material in, product out, people, farm, smoke</a:t>
            </a:r>
            <a:endParaRPr lang="en-US" sz="1400" dirty="0"/>
          </a:p>
        </p:txBody>
      </p:sp>
      <p:sp>
        <p:nvSpPr>
          <p:cNvPr id="11" name="Shape 7"/>
          <p:cNvSpPr/>
          <p:nvPr/>
        </p:nvSpPr>
        <p:spPr>
          <a:xfrm>
            <a:off x="6163056" y="146304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2" name="Image 2" descr="Best location">    </p:cNvPr>
          <p:cNvPicPr>
            <a:picLocks noChangeAspect="1"/>
          </p:cNvPicPr>
          <p:nvPr/>
        </p:nvPicPr>
        <p:blipFill>
          <a:blip r:embed="rId3"/>
          <a:stretch>
            <a:fillRect/>
          </a:stretch>
        </p:blipFill>
        <p:spPr>
          <a:xfrm>
            <a:off x="6391656" y="1691640"/>
            <a:ext cx="502920" cy="502920"/>
          </a:xfrm>
          <a:prstGeom prst="rect">
            <a:avLst/>
          </a:prstGeom>
        </p:spPr>
      </p:pic>
      <p:sp>
        <p:nvSpPr>
          <p:cNvPr id="13" name="Text 8"/>
          <p:cNvSpPr txBox="1"/>
          <p:nvPr/>
        </p:nvSpPr>
        <p:spPr>
          <a:xfrm>
            <a:off x="6391656" y="233172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Best location</a:t>
            </a:r>
            <a:endParaRPr lang="en-US" sz="1700" dirty="0"/>
          </a:p>
        </p:txBody>
      </p:sp>
      <p:sp>
        <p:nvSpPr>
          <p:cNvPr id="14" name="Text 9"/>
          <p:cNvSpPr txBox="1"/>
          <p:nvPr/>
        </p:nvSpPr>
        <p:spPr>
          <a:xfrm>
            <a:off x="6391656" y="274320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Ranked real areas with sources and map pins</a:t>
            </a:r>
            <a:endParaRPr lang="en-US" sz="1400" dirty="0"/>
          </a:p>
        </p:txBody>
      </p:sp>
      <p:sp>
        <p:nvSpPr>
          <p:cNvPr id="15" name="Shape 10"/>
          <p:cNvSpPr/>
          <p:nvPr/>
        </p:nvSpPr>
        <p:spPr>
          <a:xfrm>
            <a:off x="8970264" y="146304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6" name="Image 3" descr="Sourcing and costs">    </p:cNvPr>
          <p:cNvPicPr>
            <a:picLocks noChangeAspect="1"/>
          </p:cNvPicPr>
          <p:nvPr/>
        </p:nvPicPr>
        <p:blipFill>
          <a:blip r:embed="rId4"/>
          <a:stretch>
            <a:fillRect/>
          </a:stretch>
        </p:blipFill>
        <p:spPr>
          <a:xfrm>
            <a:off x="9198864" y="1691640"/>
            <a:ext cx="502920" cy="502920"/>
          </a:xfrm>
          <a:prstGeom prst="rect">
            <a:avLst/>
          </a:prstGeom>
        </p:spPr>
      </p:pic>
      <p:sp>
        <p:nvSpPr>
          <p:cNvPr id="17" name="Text 11"/>
          <p:cNvSpPr txBox="1"/>
          <p:nvPr/>
        </p:nvSpPr>
        <p:spPr>
          <a:xfrm>
            <a:off x="9198864" y="233172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Sourcing and costs</a:t>
            </a:r>
            <a:endParaRPr lang="en-US" sz="1700" dirty="0"/>
          </a:p>
        </p:txBody>
      </p:sp>
      <p:sp>
        <p:nvSpPr>
          <p:cNvPr id="18" name="Text 12"/>
          <p:cNvSpPr txBox="1"/>
          <p:nvPr/>
        </p:nvSpPr>
        <p:spPr>
          <a:xfrm>
            <a:off x="9198864" y="274320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Nearest suppliers, indicative machine and land prices</a:t>
            </a:r>
            <a:endParaRPr lang="en-US" sz="1400" dirty="0"/>
          </a:p>
        </p:txBody>
      </p:sp>
      <p:sp>
        <p:nvSpPr>
          <p:cNvPr id="19" name="Shape 13"/>
          <p:cNvSpPr/>
          <p:nvPr/>
        </p:nvSpPr>
        <p:spPr>
          <a:xfrm>
            <a:off x="548640" y="384048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20" name="Image 4" descr="Reuse and save">    </p:cNvPr>
          <p:cNvPicPr>
            <a:picLocks noChangeAspect="1"/>
          </p:cNvPicPr>
          <p:nvPr/>
        </p:nvPicPr>
        <p:blipFill>
          <a:blip r:embed="rId5"/>
          <a:stretch>
            <a:fillRect/>
          </a:stretch>
        </p:blipFill>
        <p:spPr>
          <a:xfrm>
            <a:off x="777240" y="4069080"/>
            <a:ext cx="502920" cy="502920"/>
          </a:xfrm>
          <a:prstGeom prst="rect">
            <a:avLst/>
          </a:prstGeom>
        </p:spPr>
      </p:pic>
      <p:sp>
        <p:nvSpPr>
          <p:cNvPr id="21" name="Text 14"/>
          <p:cNvSpPr txBox="1"/>
          <p:nvPr/>
        </p:nvSpPr>
        <p:spPr>
          <a:xfrm>
            <a:off x="777240" y="470916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Reuse and save</a:t>
            </a:r>
            <a:endParaRPr lang="en-US" sz="1700" dirty="0"/>
          </a:p>
        </p:txBody>
      </p:sp>
      <p:sp>
        <p:nvSpPr>
          <p:cNvPr id="22" name="Text 15"/>
          <p:cNvSpPr txBox="1"/>
          <p:nvPr/>
        </p:nvSpPr>
        <p:spPr>
          <a:xfrm>
            <a:off x="777240" y="512064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Water, smoke and heat, waste: Today, Fix, Result</a:t>
            </a:r>
            <a:endParaRPr lang="en-US" sz="1400" dirty="0"/>
          </a:p>
        </p:txBody>
      </p:sp>
      <p:sp>
        <p:nvSpPr>
          <p:cNvPr id="23" name="Shape 16"/>
          <p:cNvSpPr/>
          <p:nvPr/>
        </p:nvSpPr>
        <p:spPr>
          <a:xfrm>
            <a:off x="3355848" y="384048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24" name="Image 5" descr="Plant AI">    </p:cNvPr>
          <p:cNvPicPr>
            <a:picLocks noChangeAspect="1"/>
          </p:cNvPicPr>
          <p:nvPr/>
        </p:nvPicPr>
        <p:blipFill>
          <a:blip r:embed="rId6"/>
          <a:stretch>
            <a:fillRect/>
          </a:stretch>
        </p:blipFill>
        <p:spPr>
          <a:xfrm>
            <a:off x="3584448" y="4069080"/>
            <a:ext cx="502920" cy="502920"/>
          </a:xfrm>
          <a:prstGeom prst="rect">
            <a:avLst/>
          </a:prstGeom>
        </p:spPr>
      </p:pic>
      <p:sp>
        <p:nvSpPr>
          <p:cNvPr id="25" name="Text 17"/>
          <p:cNvSpPr txBox="1"/>
          <p:nvPr/>
        </p:nvSpPr>
        <p:spPr>
          <a:xfrm>
            <a:off x="3584448" y="470916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Plant AI</a:t>
            </a:r>
            <a:endParaRPr lang="en-US" sz="1700" dirty="0"/>
          </a:p>
        </p:txBody>
      </p:sp>
      <p:sp>
        <p:nvSpPr>
          <p:cNvPr id="26" name="Text 18"/>
          <p:cNvSpPr txBox="1"/>
          <p:nvPr/>
        </p:nvSpPr>
        <p:spPr>
          <a:xfrm>
            <a:off x="3584448" y="512064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Maintenance, OEE, quality drift, demand, smoke and water</a:t>
            </a:r>
            <a:endParaRPr lang="en-US" sz="1400" dirty="0"/>
          </a:p>
        </p:txBody>
      </p:sp>
      <p:sp>
        <p:nvSpPr>
          <p:cNvPr id="27" name="Shape 19"/>
          <p:cNvSpPr/>
          <p:nvPr/>
        </p:nvSpPr>
        <p:spPr>
          <a:xfrm>
            <a:off x="6163056" y="384048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28" name="Image 6" descr="Your data">    </p:cNvPr>
          <p:cNvPicPr>
            <a:picLocks noChangeAspect="1"/>
          </p:cNvPicPr>
          <p:nvPr/>
        </p:nvPicPr>
        <p:blipFill>
          <a:blip r:embed="rId7"/>
          <a:stretch>
            <a:fillRect/>
          </a:stretch>
        </p:blipFill>
        <p:spPr>
          <a:xfrm>
            <a:off x="6391656" y="4069080"/>
            <a:ext cx="502920" cy="502920"/>
          </a:xfrm>
          <a:prstGeom prst="rect">
            <a:avLst/>
          </a:prstGeom>
        </p:spPr>
      </p:pic>
      <p:sp>
        <p:nvSpPr>
          <p:cNvPr id="29" name="Text 20"/>
          <p:cNvSpPr txBox="1"/>
          <p:nvPr/>
        </p:nvSpPr>
        <p:spPr>
          <a:xfrm>
            <a:off x="6391656" y="470916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Your data</a:t>
            </a:r>
            <a:endParaRPr lang="en-US" sz="1700" dirty="0"/>
          </a:p>
        </p:txBody>
      </p:sp>
      <p:sp>
        <p:nvSpPr>
          <p:cNvPr id="30" name="Text 21"/>
          <p:cNvSpPr txBox="1"/>
          <p:nvPr/>
        </p:nvSpPr>
        <p:spPr>
          <a:xfrm>
            <a:off x="6391656" y="512064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Upload a CSV: use per unit, gap to your best, reuse levers</a:t>
            </a:r>
            <a:endParaRPr lang="en-US" sz="1400" dirty="0"/>
          </a:p>
        </p:txBody>
      </p:sp>
      <p:sp>
        <p:nvSpPr>
          <p:cNvPr id="31" name="Shape 22"/>
          <p:cNvSpPr/>
          <p:nvPr/>
        </p:nvSpPr>
        <p:spPr>
          <a:xfrm>
            <a:off x="8970264" y="3840480"/>
            <a:ext cx="2624328" cy="2148840"/>
          </a:xfrm>
          <a:prstGeom prst="roundRect">
            <a:avLst>
              <a:gd name="adj" fmla="val 5106"/>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32" name="Image 7" descr="Copilot + vision">    </p:cNvPr>
          <p:cNvPicPr>
            <a:picLocks noChangeAspect="1"/>
          </p:cNvPicPr>
          <p:nvPr/>
        </p:nvPicPr>
        <p:blipFill>
          <a:blip r:embed="rId8"/>
          <a:stretch>
            <a:fillRect/>
          </a:stretch>
        </p:blipFill>
        <p:spPr>
          <a:xfrm>
            <a:off x="9198864" y="4069080"/>
            <a:ext cx="502920" cy="502920"/>
          </a:xfrm>
          <a:prstGeom prst="rect">
            <a:avLst/>
          </a:prstGeom>
        </p:spPr>
      </p:pic>
      <p:sp>
        <p:nvSpPr>
          <p:cNvPr id="33" name="Text 23"/>
          <p:cNvSpPr txBox="1"/>
          <p:nvPr/>
        </p:nvSpPr>
        <p:spPr>
          <a:xfrm>
            <a:off x="9198864" y="4709160"/>
            <a:ext cx="2194560" cy="365760"/>
          </a:xfrm>
          <a:prstGeom prst="rect">
            <a:avLst/>
          </a:prstGeom>
          <a:noFill/>
          <a:ln/>
        </p:spPr>
        <p:txBody>
          <a:bodyPr wrap="square" lIns="0" tIns="0" rIns="0" bIns="0" rtlCol="0" anchor="ctr"/>
          <a:lstStyle/>
          <a:p>
            <a:pPr indent="0" marL="0">
              <a:buNone/>
            </a:pPr>
            <a:r>
              <a:rPr lang="en-US" sz="1700" b="1" dirty="0">
                <a:solidFill>
                  <a:srgbClr val="0E1730"/>
                </a:solidFill>
                <a:latin typeface="Calibri" pitchFamily="34" charset="0"/>
                <a:ea typeface="Calibri" pitchFamily="34" charset="-122"/>
                <a:cs typeface="Calibri" pitchFamily="34" charset="-120"/>
              </a:rPr>
              <a:t>Copilot + vision</a:t>
            </a:r>
            <a:endParaRPr lang="en-US" sz="1700" dirty="0"/>
          </a:p>
        </p:txBody>
      </p:sp>
      <p:sp>
        <p:nvSpPr>
          <p:cNvPr id="34" name="Text 24"/>
          <p:cNvSpPr txBox="1"/>
          <p:nvPr/>
        </p:nvSpPr>
        <p:spPr>
          <a:xfrm>
            <a:off x="9198864" y="5120640"/>
            <a:ext cx="2194560" cy="777240"/>
          </a:xfrm>
          <a:prstGeom prst="rect">
            <a:avLst/>
          </a:prstGeom>
          <a:noFill/>
          <a:ln/>
        </p:spPr>
        <p:txBody>
          <a:bodyPr wrap="square" lIns="0" tIns="0" rIns="0" bIns="0" rtlCol="0" anchor="t"/>
          <a:lstStyle/>
          <a:p>
            <a:pPr indent="0" marL="0">
              <a:buNone/>
            </a:pPr>
            <a:r>
              <a:rPr lang="en-US" sz="1400" dirty="0">
                <a:solidFill>
                  <a:srgbClr val="5C6470"/>
                </a:solidFill>
                <a:latin typeface="Calibri" pitchFamily="34" charset="0"/>
                <a:ea typeface="Calibri" pitchFamily="34" charset="-122"/>
                <a:cs typeface="Calibri" pitchFamily="34" charset="-120"/>
              </a:rPr>
              <a:t>Copilot quotes the numbers; Gemini vision checks a photo</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Process flow: from one sentence to daily operations</a:t>
            </a:r>
            <a:endParaRPr lang="en-US" sz="3000" dirty="0"/>
          </a:p>
        </p:txBody>
      </p:sp>
      <p:sp>
        <p:nvSpPr>
          <p:cNvPr id="3" name="Shape 1"/>
          <p:cNvSpPr/>
          <p:nvPr/>
        </p:nvSpPr>
        <p:spPr>
          <a:xfrm>
            <a:off x="548640" y="1828800"/>
            <a:ext cx="1664208" cy="2926080"/>
          </a:xfrm>
          <a:prstGeom prst="roundRect">
            <a:avLst>
              <a:gd name="adj" fmla="val 659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1170432" y="2011680"/>
            <a:ext cx="420624" cy="420624"/>
          </a:xfrm>
          <a:prstGeom prst="ellipse">
            <a:avLst/>
          </a:prstGeom>
          <a:solidFill>
            <a:srgbClr val="FF9933"/>
          </a:solidFill>
          <a:ln w="12700">
            <a:solidFill>
              <a:srgbClr val="FFFFFF"/>
            </a:solidFill>
            <a:prstDash val="solid"/>
          </a:ln>
        </p:spPr>
      </p:sp>
      <p:sp>
        <p:nvSpPr>
          <p:cNvPr id="5" name="Text 3"/>
          <p:cNvSpPr txBox="1"/>
          <p:nvPr/>
        </p:nvSpPr>
        <p:spPr>
          <a:xfrm>
            <a:off x="1170432" y="2011680"/>
            <a:ext cx="420624" cy="420624"/>
          </a:xfrm>
          <a:prstGeom prst="rect">
            <a:avLst/>
          </a:prstGeom>
          <a:noFill/>
          <a:ln/>
        </p:spPr>
        <p:txBody>
          <a:bodyPr wrap="square" lIns="0" tIns="0" rIns="0" bIns="0" rtlCol="0" anchor="ctr"/>
          <a:lstStyle/>
          <a:p>
            <a:pPr algn="ctr" indent="0" marL="0">
              <a:buNone/>
            </a:pPr>
            <a:r>
              <a:rPr lang="en-US" sz="1600" b="1" dirty="0">
                <a:solidFill>
                  <a:srgbClr val="0E173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40080" y="2606040"/>
            <a:ext cx="1481328" cy="411480"/>
          </a:xfrm>
          <a:prstGeom prst="rect">
            <a:avLst/>
          </a:prstGeom>
          <a:noFill/>
          <a:ln/>
        </p:spPr>
        <p:txBody>
          <a:bodyPr wrap="square" lIns="0" tIns="0" rIns="0" bIns="0" rtlCol="0" anchor="ctr"/>
          <a:lstStyle/>
          <a:p>
            <a:pPr algn="ctr" indent="0" marL="0">
              <a:buNone/>
            </a:pPr>
            <a:r>
              <a:rPr lang="en-US" sz="1700" b="1" dirty="0">
                <a:solidFill>
                  <a:srgbClr val="0E1730"/>
                </a:solidFill>
                <a:latin typeface="Calibri" pitchFamily="34" charset="0"/>
                <a:ea typeface="Calibri" pitchFamily="34" charset="-122"/>
                <a:cs typeface="Calibri" pitchFamily="34" charset="-120"/>
              </a:rPr>
              <a:t>Describe</a:t>
            </a:r>
            <a:endParaRPr lang="en-US" sz="1700" dirty="0"/>
          </a:p>
        </p:txBody>
      </p:sp>
      <p:sp>
        <p:nvSpPr>
          <p:cNvPr id="7" name="Text 5"/>
          <p:cNvSpPr txBox="1"/>
          <p:nvPr/>
        </p:nvSpPr>
        <p:spPr>
          <a:xfrm>
            <a:off x="685800" y="3108960"/>
            <a:ext cx="1389888" cy="15544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Text or voice, English or Hindi. Photos for an existing plant.</a:t>
            </a:r>
            <a:endParaRPr lang="en-US" sz="1300" dirty="0"/>
          </a:p>
        </p:txBody>
      </p:sp>
      <p:sp>
        <p:nvSpPr>
          <p:cNvPr id="8" name="Shape 6"/>
          <p:cNvSpPr/>
          <p:nvPr/>
        </p:nvSpPr>
        <p:spPr>
          <a:xfrm>
            <a:off x="2231136" y="3291840"/>
            <a:ext cx="182880" cy="0"/>
          </a:xfrm>
          <a:prstGeom prst="line">
            <a:avLst/>
          </a:prstGeom>
          <a:noFill/>
          <a:ln w="31750">
            <a:solidFill>
              <a:srgbClr val="FF9933"/>
            </a:solidFill>
            <a:prstDash val="solid"/>
            <a:tailEnd type="triangle"/>
          </a:ln>
        </p:spPr>
      </p:sp>
      <p:sp>
        <p:nvSpPr>
          <p:cNvPr id="9" name="Shape 7"/>
          <p:cNvSpPr/>
          <p:nvPr/>
        </p:nvSpPr>
        <p:spPr>
          <a:xfrm>
            <a:off x="2414016" y="1828800"/>
            <a:ext cx="1664208" cy="2926080"/>
          </a:xfrm>
          <a:prstGeom prst="roundRect">
            <a:avLst>
              <a:gd name="adj" fmla="val 659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3035808" y="2011680"/>
            <a:ext cx="420624" cy="420624"/>
          </a:xfrm>
          <a:prstGeom prst="ellipse">
            <a:avLst/>
          </a:prstGeom>
          <a:solidFill>
            <a:srgbClr val="FF9933"/>
          </a:solidFill>
          <a:ln w="12700">
            <a:solidFill>
              <a:srgbClr val="FFFFFF"/>
            </a:solidFill>
            <a:prstDash val="solid"/>
          </a:ln>
        </p:spPr>
      </p:sp>
      <p:sp>
        <p:nvSpPr>
          <p:cNvPr id="11" name="Text 9"/>
          <p:cNvSpPr txBox="1"/>
          <p:nvPr/>
        </p:nvSpPr>
        <p:spPr>
          <a:xfrm>
            <a:off x="3035808" y="2011680"/>
            <a:ext cx="420624" cy="420624"/>
          </a:xfrm>
          <a:prstGeom prst="rect">
            <a:avLst/>
          </a:prstGeom>
          <a:noFill/>
          <a:ln/>
        </p:spPr>
        <p:txBody>
          <a:bodyPr wrap="square" lIns="0" tIns="0" rIns="0" bIns="0" rtlCol="0" anchor="ctr"/>
          <a:lstStyle/>
          <a:p>
            <a:pPr algn="ctr" indent="0" marL="0">
              <a:buNone/>
            </a:pPr>
            <a:r>
              <a:rPr lang="en-US" sz="1600" b="1" dirty="0">
                <a:solidFill>
                  <a:srgbClr val="0E1730"/>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2505456" y="2606040"/>
            <a:ext cx="1481328" cy="411480"/>
          </a:xfrm>
          <a:prstGeom prst="rect">
            <a:avLst/>
          </a:prstGeom>
          <a:noFill/>
          <a:ln/>
        </p:spPr>
        <p:txBody>
          <a:bodyPr wrap="square" lIns="0" tIns="0" rIns="0" bIns="0" rtlCol="0" anchor="ctr"/>
          <a:lstStyle/>
          <a:p>
            <a:pPr algn="ctr" indent="0" marL="0">
              <a:buNone/>
            </a:pPr>
            <a:r>
              <a:rPr lang="en-US" sz="1700" b="1" dirty="0">
                <a:solidFill>
                  <a:srgbClr val="0E1730"/>
                </a:solidFill>
                <a:latin typeface="Calibri" pitchFamily="34" charset="0"/>
                <a:ea typeface="Calibri" pitchFamily="34" charset="-122"/>
                <a:cs typeface="Calibri" pitchFamily="34" charset="-120"/>
              </a:rPr>
              <a:t>AI drafts</a:t>
            </a:r>
            <a:endParaRPr lang="en-US" sz="1700" dirty="0"/>
          </a:p>
        </p:txBody>
      </p:sp>
      <p:sp>
        <p:nvSpPr>
          <p:cNvPr id="13" name="Text 11"/>
          <p:cNvSpPr txBox="1"/>
          <p:nvPr/>
        </p:nvSpPr>
        <p:spPr>
          <a:xfrm>
            <a:off x="2551176" y="3108960"/>
            <a:ext cx="1389888" cy="15544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Steps, equipment, waste, raw material in and product out.</a:t>
            </a:r>
            <a:endParaRPr lang="en-US" sz="1300" dirty="0"/>
          </a:p>
        </p:txBody>
      </p:sp>
      <p:sp>
        <p:nvSpPr>
          <p:cNvPr id="14" name="Shape 12"/>
          <p:cNvSpPr/>
          <p:nvPr/>
        </p:nvSpPr>
        <p:spPr>
          <a:xfrm>
            <a:off x="4096512" y="3291840"/>
            <a:ext cx="182880" cy="0"/>
          </a:xfrm>
          <a:prstGeom prst="line">
            <a:avLst/>
          </a:prstGeom>
          <a:noFill/>
          <a:ln w="31750">
            <a:solidFill>
              <a:srgbClr val="FF9933"/>
            </a:solidFill>
            <a:prstDash val="solid"/>
            <a:tailEnd type="triangle"/>
          </a:ln>
        </p:spPr>
      </p:sp>
      <p:sp>
        <p:nvSpPr>
          <p:cNvPr id="15" name="Shape 13"/>
          <p:cNvSpPr/>
          <p:nvPr/>
        </p:nvSpPr>
        <p:spPr>
          <a:xfrm>
            <a:off x="4279392" y="1828800"/>
            <a:ext cx="1664208" cy="2926080"/>
          </a:xfrm>
          <a:prstGeom prst="roundRect">
            <a:avLst>
              <a:gd name="adj" fmla="val 659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4901184" y="2011680"/>
            <a:ext cx="420624" cy="420624"/>
          </a:xfrm>
          <a:prstGeom prst="ellipse">
            <a:avLst/>
          </a:prstGeom>
          <a:solidFill>
            <a:srgbClr val="FF9933"/>
          </a:solidFill>
          <a:ln w="12700">
            <a:solidFill>
              <a:srgbClr val="FFFFFF"/>
            </a:solidFill>
            <a:prstDash val="solid"/>
          </a:ln>
        </p:spPr>
      </p:sp>
      <p:sp>
        <p:nvSpPr>
          <p:cNvPr id="17" name="Text 15"/>
          <p:cNvSpPr txBox="1"/>
          <p:nvPr/>
        </p:nvSpPr>
        <p:spPr>
          <a:xfrm>
            <a:off x="4901184" y="2011680"/>
            <a:ext cx="420624" cy="420624"/>
          </a:xfrm>
          <a:prstGeom prst="rect">
            <a:avLst/>
          </a:prstGeom>
          <a:noFill/>
          <a:ln/>
        </p:spPr>
        <p:txBody>
          <a:bodyPr wrap="square" lIns="0" tIns="0" rIns="0" bIns="0" rtlCol="0" anchor="ctr"/>
          <a:lstStyle/>
          <a:p>
            <a:pPr algn="ctr" indent="0" marL="0">
              <a:buNone/>
            </a:pPr>
            <a:r>
              <a:rPr lang="en-US" sz="1600" b="1" dirty="0">
                <a:solidFill>
                  <a:srgbClr val="0E1730"/>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4370832" y="2606040"/>
            <a:ext cx="1481328" cy="411480"/>
          </a:xfrm>
          <a:prstGeom prst="rect">
            <a:avLst/>
          </a:prstGeom>
          <a:noFill/>
          <a:ln/>
        </p:spPr>
        <p:txBody>
          <a:bodyPr wrap="square" lIns="0" tIns="0" rIns="0" bIns="0" rtlCol="0" anchor="ctr"/>
          <a:lstStyle/>
          <a:p>
            <a:pPr algn="ctr" indent="0" marL="0">
              <a:buNone/>
            </a:pPr>
            <a:r>
              <a:rPr lang="en-US" sz="1700" b="1" dirty="0">
                <a:solidFill>
                  <a:srgbClr val="0E1730"/>
                </a:solidFill>
                <a:latin typeface="Calibri" pitchFamily="34" charset="0"/>
                <a:ea typeface="Calibri" pitchFamily="34" charset="-122"/>
                <a:cs typeface="Calibri" pitchFamily="34" charset="-120"/>
              </a:rPr>
              <a:t>Research</a:t>
            </a:r>
            <a:endParaRPr lang="en-US" sz="1700" dirty="0"/>
          </a:p>
        </p:txBody>
      </p:sp>
      <p:sp>
        <p:nvSpPr>
          <p:cNvPr id="19" name="Text 17"/>
          <p:cNvSpPr txBox="1"/>
          <p:nvPr/>
        </p:nvSpPr>
        <p:spPr>
          <a:xfrm>
            <a:off x="4416552" y="3108960"/>
            <a:ext cx="1389888" cy="15544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Google Search: sources, costs, best locations, good practice.</a:t>
            </a:r>
            <a:endParaRPr lang="en-US" sz="1300" dirty="0"/>
          </a:p>
        </p:txBody>
      </p:sp>
      <p:sp>
        <p:nvSpPr>
          <p:cNvPr id="20" name="Shape 18"/>
          <p:cNvSpPr/>
          <p:nvPr/>
        </p:nvSpPr>
        <p:spPr>
          <a:xfrm>
            <a:off x="5961888" y="3291840"/>
            <a:ext cx="182880" cy="0"/>
          </a:xfrm>
          <a:prstGeom prst="line">
            <a:avLst/>
          </a:prstGeom>
          <a:noFill/>
          <a:ln w="31750">
            <a:solidFill>
              <a:srgbClr val="FF9933"/>
            </a:solidFill>
            <a:prstDash val="solid"/>
            <a:tailEnd type="triangle"/>
          </a:ln>
        </p:spPr>
      </p:sp>
      <p:sp>
        <p:nvSpPr>
          <p:cNvPr id="21" name="Shape 19"/>
          <p:cNvSpPr/>
          <p:nvPr/>
        </p:nvSpPr>
        <p:spPr>
          <a:xfrm>
            <a:off x="6144768" y="1828800"/>
            <a:ext cx="1664208" cy="2926080"/>
          </a:xfrm>
          <a:prstGeom prst="roundRect">
            <a:avLst>
              <a:gd name="adj" fmla="val 659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6766560" y="2011680"/>
            <a:ext cx="420624" cy="420624"/>
          </a:xfrm>
          <a:prstGeom prst="ellipse">
            <a:avLst/>
          </a:prstGeom>
          <a:solidFill>
            <a:srgbClr val="FF9933"/>
          </a:solidFill>
          <a:ln w="12700">
            <a:solidFill>
              <a:srgbClr val="FFFFFF"/>
            </a:solidFill>
            <a:prstDash val="solid"/>
          </a:ln>
        </p:spPr>
      </p:sp>
      <p:sp>
        <p:nvSpPr>
          <p:cNvPr id="23" name="Text 21"/>
          <p:cNvSpPr txBox="1"/>
          <p:nvPr/>
        </p:nvSpPr>
        <p:spPr>
          <a:xfrm>
            <a:off x="6766560" y="2011680"/>
            <a:ext cx="420624" cy="420624"/>
          </a:xfrm>
          <a:prstGeom prst="rect">
            <a:avLst/>
          </a:prstGeom>
          <a:noFill/>
          <a:ln/>
        </p:spPr>
        <p:txBody>
          <a:bodyPr wrap="square" lIns="0" tIns="0" rIns="0" bIns="0" rtlCol="0" anchor="ctr"/>
          <a:lstStyle/>
          <a:p>
            <a:pPr algn="ctr" indent="0" marL="0">
              <a:buNone/>
            </a:pPr>
            <a:r>
              <a:rPr lang="en-US" sz="1600" b="1" dirty="0">
                <a:solidFill>
                  <a:srgbClr val="0E1730"/>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6236208" y="2606040"/>
            <a:ext cx="1481328" cy="411480"/>
          </a:xfrm>
          <a:prstGeom prst="rect">
            <a:avLst/>
          </a:prstGeom>
          <a:noFill/>
          <a:ln/>
        </p:spPr>
        <p:txBody>
          <a:bodyPr wrap="square" lIns="0" tIns="0" rIns="0" bIns="0" rtlCol="0" anchor="ctr"/>
          <a:lstStyle/>
          <a:p>
            <a:pPr algn="ctr" indent="0" marL="0">
              <a:buNone/>
            </a:pPr>
            <a:r>
              <a:rPr lang="en-US" sz="1700" b="1" dirty="0">
                <a:solidFill>
                  <a:srgbClr val="0E1730"/>
                </a:solidFill>
                <a:latin typeface="Calibri" pitchFamily="34" charset="0"/>
                <a:ea typeface="Calibri" pitchFamily="34" charset="-122"/>
                <a:cs typeface="Calibri" pitchFamily="34" charset="-120"/>
              </a:rPr>
              <a:t>Visualise</a:t>
            </a:r>
            <a:endParaRPr lang="en-US" sz="1700" dirty="0"/>
          </a:p>
        </p:txBody>
      </p:sp>
      <p:sp>
        <p:nvSpPr>
          <p:cNvPr id="25" name="Text 23"/>
          <p:cNvSpPr txBox="1"/>
          <p:nvPr/>
        </p:nvSpPr>
        <p:spPr>
          <a:xfrm>
            <a:off x="6281928" y="3108960"/>
            <a:ext cx="1389888" cy="15544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3D plant, material flow, farm. Edit by voice.</a:t>
            </a:r>
            <a:endParaRPr lang="en-US" sz="1300" dirty="0"/>
          </a:p>
        </p:txBody>
      </p:sp>
      <p:sp>
        <p:nvSpPr>
          <p:cNvPr id="26" name="Shape 24"/>
          <p:cNvSpPr/>
          <p:nvPr/>
        </p:nvSpPr>
        <p:spPr>
          <a:xfrm>
            <a:off x="7827264" y="3291840"/>
            <a:ext cx="182880" cy="0"/>
          </a:xfrm>
          <a:prstGeom prst="line">
            <a:avLst/>
          </a:prstGeom>
          <a:noFill/>
          <a:ln w="31750">
            <a:solidFill>
              <a:srgbClr val="FF9933"/>
            </a:solidFill>
            <a:prstDash val="solid"/>
            <a:tailEnd type="triangle"/>
          </a:ln>
        </p:spPr>
      </p:sp>
      <p:sp>
        <p:nvSpPr>
          <p:cNvPr id="27" name="Shape 25"/>
          <p:cNvSpPr/>
          <p:nvPr/>
        </p:nvSpPr>
        <p:spPr>
          <a:xfrm>
            <a:off x="8010144" y="1828800"/>
            <a:ext cx="1664208" cy="2926080"/>
          </a:xfrm>
          <a:prstGeom prst="roundRect">
            <a:avLst>
              <a:gd name="adj" fmla="val 659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8631936" y="2011680"/>
            <a:ext cx="420624" cy="420624"/>
          </a:xfrm>
          <a:prstGeom prst="ellipse">
            <a:avLst/>
          </a:prstGeom>
          <a:solidFill>
            <a:srgbClr val="FF9933"/>
          </a:solidFill>
          <a:ln w="12700">
            <a:solidFill>
              <a:srgbClr val="FFFFFF"/>
            </a:solidFill>
            <a:prstDash val="solid"/>
          </a:ln>
        </p:spPr>
      </p:sp>
      <p:sp>
        <p:nvSpPr>
          <p:cNvPr id="29" name="Text 27"/>
          <p:cNvSpPr txBox="1"/>
          <p:nvPr/>
        </p:nvSpPr>
        <p:spPr>
          <a:xfrm>
            <a:off x="8631936" y="2011680"/>
            <a:ext cx="420624" cy="420624"/>
          </a:xfrm>
          <a:prstGeom prst="rect">
            <a:avLst/>
          </a:prstGeom>
          <a:noFill/>
          <a:ln/>
        </p:spPr>
        <p:txBody>
          <a:bodyPr wrap="square" lIns="0" tIns="0" rIns="0" bIns="0" rtlCol="0" anchor="ctr"/>
          <a:lstStyle/>
          <a:p>
            <a:pPr algn="ctr" indent="0" marL="0">
              <a:buNone/>
            </a:pPr>
            <a:r>
              <a:rPr lang="en-US" sz="1600" b="1" dirty="0">
                <a:solidFill>
                  <a:srgbClr val="0E1730"/>
                </a:solidFill>
                <a:latin typeface="Calibri" pitchFamily="34" charset="0"/>
                <a:ea typeface="Calibri" pitchFamily="34" charset="-122"/>
                <a:cs typeface="Calibri" pitchFamily="34" charset="-120"/>
              </a:rPr>
              <a:t>5</a:t>
            </a:r>
            <a:endParaRPr lang="en-US" sz="1600" dirty="0"/>
          </a:p>
        </p:txBody>
      </p:sp>
      <p:sp>
        <p:nvSpPr>
          <p:cNvPr id="30" name="Text 28"/>
          <p:cNvSpPr txBox="1"/>
          <p:nvPr/>
        </p:nvSpPr>
        <p:spPr>
          <a:xfrm>
            <a:off x="8101584" y="2606040"/>
            <a:ext cx="1481328" cy="411480"/>
          </a:xfrm>
          <a:prstGeom prst="rect">
            <a:avLst/>
          </a:prstGeom>
          <a:noFill/>
          <a:ln/>
        </p:spPr>
        <p:txBody>
          <a:bodyPr wrap="square" lIns="0" tIns="0" rIns="0" bIns="0" rtlCol="0" anchor="ctr"/>
          <a:lstStyle/>
          <a:p>
            <a:pPr algn="ctr" indent="0" marL="0">
              <a:buNone/>
            </a:pPr>
            <a:r>
              <a:rPr lang="en-US" sz="1700" b="1" dirty="0">
                <a:solidFill>
                  <a:srgbClr val="0E1730"/>
                </a:solidFill>
                <a:latin typeface="Calibri" pitchFamily="34" charset="0"/>
                <a:ea typeface="Calibri" pitchFamily="34" charset="-122"/>
                <a:cs typeface="Calibri" pitchFamily="34" charset="-120"/>
              </a:rPr>
              <a:t>Improve</a:t>
            </a:r>
            <a:endParaRPr lang="en-US" sz="1700" dirty="0"/>
          </a:p>
        </p:txBody>
      </p:sp>
      <p:sp>
        <p:nvSpPr>
          <p:cNvPr id="31" name="Text 29"/>
          <p:cNvSpPr txBox="1"/>
          <p:nvPr/>
        </p:nvSpPr>
        <p:spPr>
          <a:xfrm>
            <a:off x="8147304" y="3108960"/>
            <a:ext cx="1389888" cy="15544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Reuse loops. Pollution with and without AI.</a:t>
            </a:r>
            <a:endParaRPr lang="en-US" sz="1300" dirty="0"/>
          </a:p>
        </p:txBody>
      </p:sp>
      <p:sp>
        <p:nvSpPr>
          <p:cNvPr id="32" name="Shape 30"/>
          <p:cNvSpPr/>
          <p:nvPr/>
        </p:nvSpPr>
        <p:spPr>
          <a:xfrm>
            <a:off x="9692640" y="3291840"/>
            <a:ext cx="182880" cy="0"/>
          </a:xfrm>
          <a:prstGeom prst="line">
            <a:avLst/>
          </a:prstGeom>
          <a:noFill/>
          <a:ln w="31750">
            <a:solidFill>
              <a:srgbClr val="FF9933"/>
            </a:solidFill>
            <a:prstDash val="solid"/>
            <a:tailEnd type="triangle"/>
          </a:ln>
        </p:spPr>
      </p:sp>
      <p:sp>
        <p:nvSpPr>
          <p:cNvPr id="33" name="Shape 31"/>
          <p:cNvSpPr/>
          <p:nvPr/>
        </p:nvSpPr>
        <p:spPr>
          <a:xfrm>
            <a:off x="9875520" y="1828800"/>
            <a:ext cx="1664208" cy="2926080"/>
          </a:xfrm>
          <a:prstGeom prst="roundRect">
            <a:avLst>
              <a:gd name="adj" fmla="val 6593"/>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34" name="Shape 32"/>
          <p:cNvSpPr/>
          <p:nvPr/>
        </p:nvSpPr>
        <p:spPr>
          <a:xfrm>
            <a:off x="10497312" y="2011680"/>
            <a:ext cx="420624" cy="420624"/>
          </a:xfrm>
          <a:prstGeom prst="ellipse">
            <a:avLst/>
          </a:prstGeom>
          <a:solidFill>
            <a:srgbClr val="FF9933"/>
          </a:solidFill>
          <a:ln w="12700">
            <a:solidFill>
              <a:srgbClr val="FFFFFF"/>
            </a:solidFill>
            <a:prstDash val="solid"/>
          </a:ln>
        </p:spPr>
      </p:sp>
      <p:sp>
        <p:nvSpPr>
          <p:cNvPr id="35" name="Text 33"/>
          <p:cNvSpPr txBox="1"/>
          <p:nvPr/>
        </p:nvSpPr>
        <p:spPr>
          <a:xfrm>
            <a:off x="10497312" y="2011680"/>
            <a:ext cx="420624" cy="420624"/>
          </a:xfrm>
          <a:prstGeom prst="rect">
            <a:avLst/>
          </a:prstGeom>
          <a:noFill/>
          <a:ln/>
        </p:spPr>
        <p:txBody>
          <a:bodyPr wrap="square" lIns="0" tIns="0" rIns="0" bIns="0" rtlCol="0" anchor="ctr"/>
          <a:lstStyle/>
          <a:p>
            <a:pPr algn="ctr" indent="0" marL="0">
              <a:buNone/>
            </a:pPr>
            <a:r>
              <a:rPr lang="en-US" sz="1600" b="1" dirty="0">
                <a:solidFill>
                  <a:srgbClr val="0E1730"/>
                </a:solidFill>
                <a:latin typeface="Calibri" pitchFamily="34" charset="0"/>
                <a:ea typeface="Calibri" pitchFamily="34" charset="-122"/>
                <a:cs typeface="Calibri" pitchFamily="34" charset="-120"/>
              </a:rPr>
              <a:t>6</a:t>
            </a:r>
            <a:endParaRPr lang="en-US" sz="1600" dirty="0"/>
          </a:p>
        </p:txBody>
      </p:sp>
      <p:sp>
        <p:nvSpPr>
          <p:cNvPr id="36" name="Text 34"/>
          <p:cNvSpPr txBox="1"/>
          <p:nvPr/>
        </p:nvSpPr>
        <p:spPr>
          <a:xfrm>
            <a:off x="9966960" y="2606040"/>
            <a:ext cx="1481328" cy="411480"/>
          </a:xfrm>
          <a:prstGeom prst="rect">
            <a:avLst/>
          </a:prstGeom>
          <a:noFill/>
          <a:ln/>
        </p:spPr>
        <p:txBody>
          <a:bodyPr wrap="square" lIns="0" tIns="0" rIns="0" bIns="0" rtlCol="0" anchor="ctr"/>
          <a:lstStyle/>
          <a:p>
            <a:pPr algn="ctr" indent="0" marL="0">
              <a:buNone/>
            </a:pPr>
            <a:r>
              <a:rPr lang="en-US" sz="1700" b="1" dirty="0">
                <a:solidFill>
                  <a:srgbClr val="0E1730"/>
                </a:solidFill>
                <a:latin typeface="Calibri" pitchFamily="34" charset="0"/>
                <a:ea typeface="Calibri" pitchFamily="34" charset="-122"/>
                <a:cs typeface="Calibri" pitchFamily="34" charset="-120"/>
              </a:rPr>
              <a:t>Operate</a:t>
            </a:r>
            <a:endParaRPr lang="en-US" sz="1700" dirty="0"/>
          </a:p>
        </p:txBody>
      </p:sp>
      <p:sp>
        <p:nvSpPr>
          <p:cNvPr id="37" name="Text 35"/>
          <p:cNvSpPr txBox="1"/>
          <p:nvPr/>
        </p:nvSpPr>
        <p:spPr>
          <a:xfrm>
            <a:off x="10012680" y="3108960"/>
            <a:ext cx="1389888" cy="15544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Your data in, insights and actions out. Ask the AI.</a:t>
            </a:r>
            <a:endParaRPr lang="en-US" sz="1300" dirty="0"/>
          </a:p>
        </p:txBody>
      </p:sp>
      <p:sp>
        <p:nvSpPr>
          <p:cNvPr id="38" name="Shape 36"/>
          <p:cNvSpPr/>
          <p:nvPr/>
        </p:nvSpPr>
        <p:spPr>
          <a:xfrm>
            <a:off x="548640" y="5074920"/>
            <a:ext cx="11064240" cy="1005840"/>
          </a:xfrm>
          <a:prstGeom prst="roundRect">
            <a:avLst>
              <a:gd name="adj" fmla="val 10909"/>
            </a:avLst>
          </a:prstGeom>
          <a:solidFill>
            <a:srgbClr val="F3F5F4"/>
          </a:solidFill>
          <a:ln w="12700">
            <a:solidFill>
              <a:srgbClr val="D9DEDC"/>
            </a:solidFill>
            <a:prstDash val="solid"/>
          </a:ln>
        </p:spPr>
      </p:sp>
      <p:sp>
        <p:nvSpPr>
          <p:cNvPr id="39" name="Text 37"/>
          <p:cNvSpPr txBox="1"/>
          <p:nvPr/>
        </p:nvSpPr>
        <p:spPr>
          <a:xfrm>
            <a:off x="822960" y="5138928"/>
            <a:ext cx="10515600" cy="868680"/>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Where AI acts: </a:t>
            </a:r>
            <a:pPr indent="0" marL="0">
              <a:buNone/>
            </a:pPr>
            <a:r>
              <a:rPr lang="en-US" sz="1500" dirty="0">
                <a:solidFill>
                  <a:srgbClr val="1F2430"/>
                </a:solidFill>
                <a:latin typeface="Calibri" pitchFamily="34" charset="0"/>
                <a:ea typeface="Calibri" pitchFamily="34" charset="-122"/>
                <a:cs typeface="Calibri" pitchFamily="34" charset="-120"/>
              </a:rPr>
              <a:t>Gemini designs and explains; Google Search grounds the facts; Gemini vision checks photos; plain statistics, not a model's guess, compute every trend, forecast and balance.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Screens: chat first, plant and tabs beside it</a:t>
            </a:r>
            <a:endParaRPr lang="en-US" sz="3000" dirty="0"/>
          </a:p>
        </p:txBody>
      </p:sp>
      <p:sp>
        <p:nvSpPr>
          <p:cNvPr id="3" name="Shape 1"/>
          <p:cNvSpPr/>
          <p:nvPr/>
        </p:nvSpPr>
        <p:spPr>
          <a:xfrm>
            <a:off x="512064" y="1335024"/>
            <a:ext cx="4919472" cy="3556445"/>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4" name="Image 0" descr="Landing: two clear choices, in English or Hindi, light or dark">    </p:cNvPr>
          <p:cNvPicPr>
            <a:picLocks noChangeAspect="1"/>
          </p:cNvPicPr>
          <p:nvPr/>
        </p:nvPicPr>
        <p:blipFill>
          <a:blip r:embed="rId1"/>
          <a:stretch>
            <a:fillRect/>
          </a:stretch>
        </p:blipFill>
        <p:spPr>
          <a:xfrm>
            <a:off x="548640" y="1371600"/>
            <a:ext cx="4846320" cy="3483292"/>
          </a:xfrm>
          <a:prstGeom prst="rect">
            <a:avLst/>
          </a:prstGeom>
        </p:spPr>
      </p:pic>
      <p:sp>
        <p:nvSpPr>
          <p:cNvPr id="5" name="Text 2"/>
          <p:cNvSpPr txBox="1"/>
          <p:nvPr/>
        </p:nvSpPr>
        <p:spPr>
          <a:xfrm>
            <a:off x="548640" y="4964620"/>
            <a:ext cx="484632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Landing: two clear choices, in English or Hindi, light or dark</a:t>
            </a:r>
            <a:endParaRPr lang="en-US" sz="1200" dirty="0"/>
          </a:p>
        </p:txBody>
      </p:sp>
      <p:sp>
        <p:nvSpPr>
          <p:cNvPr id="6" name="Shape 3"/>
          <p:cNvSpPr/>
          <p:nvPr/>
        </p:nvSpPr>
        <p:spPr>
          <a:xfrm>
            <a:off x="5632704" y="1335024"/>
            <a:ext cx="6016752" cy="4345115"/>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7" name="Image 1" descr="Workspace: chat on the left, 3D plant above, grouped tabs below">    </p:cNvPr>
          <p:cNvPicPr>
            <a:picLocks noChangeAspect="1"/>
          </p:cNvPicPr>
          <p:nvPr/>
        </p:nvPicPr>
        <p:blipFill>
          <a:blip r:embed="rId2"/>
          <a:stretch>
            <a:fillRect/>
          </a:stretch>
        </p:blipFill>
        <p:spPr>
          <a:xfrm>
            <a:off x="5669280" y="1371600"/>
            <a:ext cx="5943600" cy="4271963"/>
          </a:xfrm>
          <a:prstGeom prst="rect">
            <a:avLst/>
          </a:prstGeom>
        </p:spPr>
      </p:pic>
      <p:sp>
        <p:nvSpPr>
          <p:cNvPr id="8" name="Text 4"/>
          <p:cNvSpPr txBox="1"/>
          <p:nvPr/>
        </p:nvSpPr>
        <p:spPr>
          <a:xfrm>
            <a:off x="5669280" y="5753291"/>
            <a:ext cx="594360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Workspace: chat on the left, 3D plant above, grouped tabs below</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Architecture: one container on Cloud Run, Gemini behind it</a:t>
            </a:r>
            <a:endParaRPr lang="en-US" sz="3000" dirty="0"/>
          </a:p>
        </p:txBody>
      </p:sp>
      <p:sp>
        <p:nvSpPr>
          <p:cNvPr id="3" name="Shape 1"/>
          <p:cNvSpPr/>
          <p:nvPr/>
        </p:nvSpPr>
        <p:spPr>
          <a:xfrm>
            <a:off x="548640" y="1463040"/>
            <a:ext cx="2377440" cy="2651760"/>
          </a:xfrm>
          <a:prstGeom prst="roundRect">
            <a:avLst>
              <a:gd name="adj" fmla="val 3846"/>
            </a:avLst>
          </a:prstGeom>
          <a:solidFill>
            <a:srgbClr val="FFFFFF"/>
          </a:solidFill>
          <a:ln w="19050">
            <a:solidFill>
              <a:srgbClr val="D9DEDC"/>
            </a:solidFill>
            <a:prstDash val="solid"/>
          </a:ln>
        </p:spPr>
      </p:sp>
      <p:sp>
        <p:nvSpPr>
          <p:cNvPr id="4" name="Text 2"/>
          <p:cNvSpPr txBox="1"/>
          <p:nvPr/>
        </p:nvSpPr>
        <p:spPr>
          <a:xfrm>
            <a:off x="731520" y="1536192"/>
            <a:ext cx="201168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Browser</a:t>
            </a:r>
            <a:endParaRPr lang="en-US" sz="1500" dirty="0"/>
          </a:p>
        </p:txBody>
      </p:sp>
      <p:sp>
        <p:nvSpPr>
          <p:cNvPr id="5" name="Text 3"/>
          <p:cNvSpPr txBox="1"/>
          <p:nvPr/>
        </p:nvSpPr>
        <p:spPr>
          <a:xfrm>
            <a:off x="731520" y="1847088"/>
            <a:ext cx="2011680" cy="219456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Next.js 16 · React 19</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Three.js 3D plant</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Leaflet map</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MediaPipe hand control</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Voice in and out</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Chats saved locally</a:t>
            </a:r>
            <a:endParaRPr lang="en-US" sz="1200" dirty="0"/>
          </a:p>
        </p:txBody>
      </p:sp>
      <p:sp>
        <p:nvSpPr>
          <p:cNvPr id="6" name="Shape 4"/>
          <p:cNvSpPr/>
          <p:nvPr/>
        </p:nvSpPr>
        <p:spPr>
          <a:xfrm>
            <a:off x="3383280" y="1325880"/>
            <a:ext cx="4937760" cy="3246120"/>
          </a:xfrm>
          <a:prstGeom prst="roundRect">
            <a:avLst>
              <a:gd name="adj" fmla="val 2817"/>
            </a:avLst>
          </a:prstGeom>
          <a:solidFill>
            <a:srgbClr val="FFF6EA"/>
          </a:solidFill>
          <a:ln w="19050">
            <a:solidFill>
              <a:srgbClr val="FF9933"/>
            </a:solidFill>
            <a:prstDash val="solid"/>
          </a:ln>
        </p:spPr>
      </p:sp>
      <p:sp>
        <p:nvSpPr>
          <p:cNvPr id="7" name="Text 5"/>
          <p:cNvSpPr txBox="1"/>
          <p:nvPr/>
        </p:nvSpPr>
        <p:spPr>
          <a:xfrm>
            <a:off x="3566160" y="1399032"/>
            <a:ext cx="457200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Cloud Run container (Docker)</a:t>
            </a:r>
            <a:endParaRPr lang="en-US" sz="1500" dirty="0"/>
          </a:p>
        </p:txBody>
      </p:sp>
      <p:sp>
        <p:nvSpPr>
          <p:cNvPr id="8" name="Shape 6"/>
          <p:cNvSpPr/>
          <p:nvPr/>
        </p:nvSpPr>
        <p:spPr>
          <a:xfrm>
            <a:off x="3566160" y="1783080"/>
            <a:ext cx="4572000" cy="731520"/>
          </a:xfrm>
          <a:prstGeom prst="roundRect">
            <a:avLst>
              <a:gd name="adj" fmla="val 12500"/>
            </a:avLst>
          </a:prstGeom>
          <a:solidFill>
            <a:srgbClr val="FFFFFF"/>
          </a:solidFill>
          <a:ln w="19050">
            <a:solidFill>
              <a:srgbClr val="D9DEDC"/>
            </a:solidFill>
            <a:prstDash val="solid"/>
          </a:ln>
        </p:spPr>
      </p:sp>
      <p:sp>
        <p:nvSpPr>
          <p:cNvPr id="9" name="Text 7"/>
          <p:cNvSpPr txBox="1"/>
          <p:nvPr/>
        </p:nvSpPr>
        <p:spPr>
          <a:xfrm>
            <a:off x="3749040" y="1856232"/>
            <a:ext cx="420624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Next.js server</a:t>
            </a:r>
            <a:endParaRPr lang="en-US" sz="1500" dirty="0"/>
          </a:p>
        </p:txBody>
      </p:sp>
      <p:sp>
        <p:nvSpPr>
          <p:cNvPr id="10" name="Text 8"/>
          <p:cNvSpPr txBox="1"/>
          <p:nvPr/>
        </p:nvSpPr>
        <p:spPr>
          <a:xfrm>
            <a:off x="3749040" y="2167128"/>
            <a:ext cx="4206240" cy="27432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Serves the app and forwards /api</a:t>
            </a:r>
            <a:endParaRPr lang="en-US" sz="1200" dirty="0"/>
          </a:p>
        </p:txBody>
      </p:sp>
      <p:sp>
        <p:nvSpPr>
          <p:cNvPr id="11" name="Shape 9"/>
          <p:cNvSpPr/>
          <p:nvPr/>
        </p:nvSpPr>
        <p:spPr>
          <a:xfrm>
            <a:off x="3566160" y="2606040"/>
            <a:ext cx="4572000" cy="914400"/>
          </a:xfrm>
          <a:prstGeom prst="roundRect">
            <a:avLst>
              <a:gd name="adj" fmla="val 10000"/>
            </a:avLst>
          </a:prstGeom>
          <a:solidFill>
            <a:srgbClr val="FFFFFF"/>
          </a:solidFill>
          <a:ln w="19050">
            <a:solidFill>
              <a:srgbClr val="D9DEDC"/>
            </a:solidFill>
            <a:prstDash val="solid"/>
          </a:ln>
        </p:spPr>
      </p:sp>
      <p:sp>
        <p:nvSpPr>
          <p:cNvPr id="12" name="Text 10"/>
          <p:cNvSpPr txBox="1"/>
          <p:nvPr/>
        </p:nvSpPr>
        <p:spPr>
          <a:xfrm>
            <a:off x="3749040" y="2679192"/>
            <a:ext cx="420624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FastAPI agents</a:t>
            </a:r>
            <a:endParaRPr lang="en-US" sz="1500" dirty="0"/>
          </a:p>
        </p:txBody>
      </p:sp>
      <p:sp>
        <p:nvSpPr>
          <p:cNvPr id="13" name="Text 11"/>
          <p:cNvSpPr txBox="1"/>
          <p:nvPr/>
        </p:nvSpPr>
        <p:spPr>
          <a:xfrm>
            <a:off x="3749040" y="2990088"/>
            <a:ext cx="4206240" cy="45720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Design · research · costs · practices · reuse</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best location · copilot · photo inspection</a:t>
            </a:r>
            <a:endParaRPr lang="en-US" sz="1200" dirty="0"/>
          </a:p>
        </p:txBody>
      </p:sp>
      <p:sp>
        <p:nvSpPr>
          <p:cNvPr id="14" name="Shape 12"/>
          <p:cNvSpPr/>
          <p:nvPr/>
        </p:nvSpPr>
        <p:spPr>
          <a:xfrm>
            <a:off x="3566160" y="3611880"/>
            <a:ext cx="4572000" cy="868680"/>
          </a:xfrm>
          <a:prstGeom prst="roundRect">
            <a:avLst>
              <a:gd name="adj" fmla="val 10526"/>
            </a:avLst>
          </a:prstGeom>
          <a:solidFill>
            <a:srgbClr val="FFFFFF"/>
          </a:solidFill>
          <a:ln w="19050">
            <a:solidFill>
              <a:srgbClr val="D9DEDC"/>
            </a:solidFill>
            <a:prstDash val="solid"/>
          </a:ln>
        </p:spPr>
      </p:sp>
      <p:sp>
        <p:nvSpPr>
          <p:cNvPr id="15" name="Text 13"/>
          <p:cNvSpPr txBox="1"/>
          <p:nvPr/>
        </p:nvSpPr>
        <p:spPr>
          <a:xfrm>
            <a:off x="3749040" y="3685032"/>
            <a:ext cx="420624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Analytics engine + guardrails</a:t>
            </a:r>
            <a:endParaRPr lang="en-US" sz="1500" dirty="0"/>
          </a:p>
        </p:txBody>
      </p:sp>
      <p:sp>
        <p:nvSpPr>
          <p:cNvPr id="16" name="Text 14"/>
          <p:cNvSpPr txBox="1"/>
          <p:nvPr/>
        </p:nvSpPr>
        <p:spPr>
          <a:xfrm>
            <a:off x="3749040" y="3995928"/>
            <a:ext cx="4206240" cy="41148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Trends, OEE, forecast, balance (plain statistics)</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Schema limits · injection check · call budgets</a:t>
            </a:r>
            <a:endParaRPr lang="en-US" sz="1200" dirty="0"/>
          </a:p>
        </p:txBody>
      </p:sp>
      <p:sp>
        <p:nvSpPr>
          <p:cNvPr id="17" name="Shape 15"/>
          <p:cNvSpPr/>
          <p:nvPr/>
        </p:nvSpPr>
        <p:spPr>
          <a:xfrm>
            <a:off x="8778240" y="1463040"/>
            <a:ext cx="2834640" cy="1600200"/>
          </a:xfrm>
          <a:prstGeom prst="roundRect">
            <a:avLst>
              <a:gd name="adj" fmla="val 5714"/>
            </a:avLst>
          </a:prstGeom>
          <a:solidFill>
            <a:srgbClr val="EAF5E8"/>
          </a:solidFill>
          <a:ln w="19050">
            <a:solidFill>
              <a:srgbClr val="138808"/>
            </a:solidFill>
            <a:prstDash val="solid"/>
          </a:ln>
        </p:spPr>
      </p:sp>
      <p:sp>
        <p:nvSpPr>
          <p:cNvPr id="18" name="Text 16"/>
          <p:cNvSpPr txBox="1"/>
          <p:nvPr/>
        </p:nvSpPr>
        <p:spPr>
          <a:xfrm>
            <a:off x="8961120" y="1536192"/>
            <a:ext cx="246888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Gemini API</a:t>
            </a:r>
            <a:endParaRPr lang="en-US" sz="1500" dirty="0"/>
          </a:p>
        </p:txBody>
      </p:sp>
      <p:sp>
        <p:nvSpPr>
          <p:cNvPr id="19" name="Text 17"/>
          <p:cNvSpPr txBox="1"/>
          <p:nvPr/>
        </p:nvSpPr>
        <p:spPr>
          <a:xfrm>
            <a:off x="8961120" y="1847088"/>
            <a:ext cx="2468880" cy="114300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Structured JSON · Google Search grounding</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Vision · image · Veo video</a:t>
            </a:r>
            <a:endParaRPr lang="en-US" sz="1200" dirty="0"/>
          </a:p>
        </p:txBody>
      </p:sp>
      <p:sp>
        <p:nvSpPr>
          <p:cNvPr id="20" name="Shape 18"/>
          <p:cNvSpPr/>
          <p:nvPr/>
        </p:nvSpPr>
        <p:spPr>
          <a:xfrm>
            <a:off x="8778240" y="3200400"/>
            <a:ext cx="2834640" cy="1371600"/>
          </a:xfrm>
          <a:prstGeom prst="roundRect">
            <a:avLst>
              <a:gd name="adj" fmla="val 6667"/>
            </a:avLst>
          </a:prstGeom>
          <a:solidFill>
            <a:srgbClr val="FFFFFF"/>
          </a:solidFill>
          <a:ln w="19050">
            <a:solidFill>
              <a:srgbClr val="D9DEDC"/>
            </a:solidFill>
            <a:prstDash val="solid"/>
          </a:ln>
        </p:spPr>
      </p:sp>
      <p:sp>
        <p:nvSpPr>
          <p:cNvPr id="21" name="Text 19"/>
          <p:cNvSpPr txBox="1"/>
          <p:nvPr/>
        </p:nvSpPr>
        <p:spPr>
          <a:xfrm>
            <a:off x="8961120" y="3273552"/>
            <a:ext cx="246888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Open data</a:t>
            </a:r>
            <a:endParaRPr lang="en-US" sz="1500" dirty="0"/>
          </a:p>
        </p:txBody>
      </p:sp>
      <p:sp>
        <p:nvSpPr>
          <p:cNvPr id="22" name="Text 20"/>
          <p:cNvSpPr txBox="1"/>
          <p:nvPr/>
        </p:nvSpPr>
        <p:spPr>
          <a:xfrm>
            <a:off x="8961120" y="3584448"/>
            <a:ext cx="2468880" cy="91440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OpenStreetMap places</a:t>
            </a:r>
            <a:endParaRPr lang="en-US" sz="1200" dirty="0"/>
          </a:p>
          <a:p>
            <a:pPr indent="0" marL="0">
              <a:buNone/>
            </a:pPr>
            <a:r>
              <a:rPr lang="en-US" sz="1200" dirty="0">
                <a:solidFill>
                  <a:srgbClr val="1F2430"/>
                </a:solidFill>
                <a:latin typeface="Calibri" pitchFamily="34" charset="0"/>
                <a:ea typeface="Calibri" pitchFamily="34" charset="-122"/>
                <a:cs typeface="Calibri" pitchFamily="34" charset="-120"/>
              </a:rPr>
              <a:t>Open-Meteo wind and sun</a:t>
            </a:r>
            <a:endParaRPr lang="en-US" sz="1200" dirty="0"/>
          </a:p>
        </p:txBody>
      </p:sp>
      <p:sp>
        <p:nvSpPr>
          <p:cNvPr id="23" name="Shape 21"/>
          <p:cNvSpPr/>
          <p:nvPr/>
        </p:nvSpPr>
        <p:spPr>
          <a:xfrm>
            <a:off x="2926080" y="2743200"/>
            <a:ext cx="457200" cy="0"/>
          </a:xfrm>
          <a:prstGeom prst="line">
            <a:avLst/>
          </a:prstGeom>
          <a:noFill/>
          <a:ln w="25400">
            <a:solidFill>
              <a:srgbClr val="0E1730"/>
            </a:solidFill>
            <a:prstDash val="solid"/>
            <a:tailEnd type="triangle"/>
          </a:ln>
        </p:spPr>
      </p:sp>
      <p:sp>
        <p:nvSpPr>
          <p:cNvPr id="24" name="Shape 22"/>
          <p:cNvSpPr/>
          <p:nvPr/>
        </p:nvSpPr>
        <p:spPr>
          <a:xfrm>
            <a:off x="8321040" y="2286000"/>
            <a:ext cx="457200" cy="0"/>
          </a:xfrm>
          <a:prstGeom prst="line">
            <a:avLst/>
          </a:prstGeom>
          <a:noFill/>
          <a:ln w="25400">
            <a:solidFill>
              <a:srgbClr val="0E1730"/>
            </a:solidFill>
            <a:prstDash val="solid"/>
            <a:tailEnd type="triangle"/>
          </a:ln>
        </p:spPr>
      </p:sp>
      <p:sp>
        <p:nvSpPr>
          <p:cNvPr id="25" name="Shape 23"/>
          <p:cNvSpPr/>
          <p:nvPr/>
        </p:nvSpPr>
        <p:spPr>
          <a:xfrm>
            <a:off x="8321040" y="3840480"/>
            <a:ext cx="457200" cy="0"/>
          </a:xfrm>
          <a:prstGeom prst="line">
            <a:avLst/>
          </a:prstGeom>
          <a:noFill/>
          <a:ln w="25400">
            <a:solidFill>
              <a:srgbClr val="0E1730"/>
            </a:solidFill>
            <a:prstDash val="solid"/>
            <a:tailEnd type="triangle"/>
          </a:ln>
        </p:spPr>
      </p:sp>
      <p:sp>
        <p:nvSpPr>
          <p:cNvPr id="26" name="Shape 24"/>
          <p:cNvSpPr/>
          <p:nvPr/>
        </p:nvSpPr>
        <p:spPr>
          <a:xfrm>
            <a:off x="548640" y="4892040"/>
            <a:ext cx="11064240" cy="1234440"/>
          </a:xfrm>
          <a:prstGeom prst="roundRect">
            <a:avLst>
              <a:gd name="adj" fmla="val 7407"/>
            </a:avLst>
          </a:prstGeom>
          <a:solidFill>
            <a:srgbClr val="F7F7F7"/>
          </a:solidFill>
          <a:ln w="19050">
            <a:solidFill>
              <a:srgbClr val="5C6470"/>
            </a:solidFill>
            <a:prstDash val="dash"/>
          </a:ln>
        </p:spPr>
      </p:sp>
      <p:sp>
        <p:nvSpPr>
          <p:cNvPr id="27" name="Text 25"/>
          <p:cNvSpPr txBox="1"/>
          <p:nvPr/>
        </p:nvSpPr>
        <p:spPr>
          <a:xfrm>
            <a:off x="731520" y="4965192"/>
            <a:ext cx="10698480" cy="292608"/>
          </a:xfrm>
          <a:prstGeom prst="rect">
            <a:avLst/>
          </a:prstGeom>
          <a:noFill/>
          <a:ln/>
        </p:spPr>
        <p:txBody>
          <a:bodyPr wrap="square" lIns="0" tIns="0" rIns="0" bIns="0" rtlCol="0" anchor="ctr"/>
          <a:lstStyle/>
          <a:p>
            <a:pPr indent="0" marL="0">
              <a:buNone/>
            </a:pPr>
            <a:r>
              <a:rPr lang="en-US" sz="1500" b="1" dirty="0">
                <a:solidFill>
                  <a:srgbClr val="0E1730"/>
                </a:solidFill>
                <a:latin typeface="Calibri" pitchFamily="34" charset="0"/>
                <a:ea typeface="Calibri" pitchFamily="34" charset="-122"/>
                <a:cs typeface="Calibri" pitchFamily="34" charset="-120"/>
              </a:rPr>
              <a:t>Planned next (not built yet)</a:t>
            </a:r>
            <a:endParaRPr lang="en-US" sz="1500" dirty="0"/>
          </a:p>
        </p:txBody>
      </p:sp>
      <p:sp>
        <p:nvSpPr>
          <p:cNvPr id="28" name="Text 26"/>
          <p:cNvSpPr txBox="1"/>
          <p:nvPr/>
        </p:nvSpPr>
        <p:spPr>
          <a:xfrm>
            <a:off x="731520" y="5276088"/>
            <a:ext cx="10698480" cy="777240"/>
          </a:xfrm>
          <a:prstGeom prst="rect">
            <a:avLst/>
          </a:prstGeom>
          <a:noFill/>
          <a:ln/>
        </p:spPr>
        <p:txBody>
          <a:bodyPr wrap="square" lIns="0" tIns="0" rIns="0" bIns="0" rtlCol="0" anchor="t"/>
          <a:lstStyle/>
          <a:p>
            <a:pPr indent="0" marL="0">
              <a:buNone/>
            </a:pPr>
            <a:r>
              <a:rPr lang="en-US" sz="1200" dirty="0">
                <a:solidFill>
                  <a:srgbClr val="1F2430"/>
                </a:solidFill>
                <a:latin typeface="Calibri" pitchFamily="34" charset="0"/>
                <a:ea typeface="Calibri" pitchFamily="34" charset="-122"/>
                <a:cs typeface="Calibri" pitchFamily="34" charset="-120"/>
              </a:rPr>
              <a:t>Firebase Auth + Firestore (Google login, saved chats) · BigQuery + Pub/Sub + Dataflow (plant data pipeline) · Vertex AI (Gemini on Vertex, forecasting) · Cloud Storage (files and photos) · Secret Manager holds the Gemini key today</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Technologies: used today and planned</a:t>
            </a:r>
            <a:endParaRPr lang="en-US" sz="3000" dirty="0"/>
          </a:p>
        </p:txBody>
      </p:sp>
      <p:sp>
        <p:nvSpPr>
          <p:cNvPr id="3" name="Shape 1"/>
          <p:cNvSpPr/>
          <p:nvPr/>
        </p:nvSpPr>
        <p:spPr>
          <a:xfrm>
            <a:off x="548640" y="1417320"/>
            <a:ext cx="6309360" cy="4709160"/>
          </a:xfrm>
          <a:prstGeom prst="roundRect">
            <a:avLst>
              <a:gd name="adj" fmla="val 2330"/>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7132320" y="1417320"/>
            <a:ext cx="4480560" cy="4709160"/>
          </a:xfrm>
          <a:prstGeom prst="roundRect">
            <a:avLst>
              <a:gd name="adj" fmla="val 2449"/>
            </a:avLst>
          </a:prstGeom>
          <a:solidFill>
            <a:srgbClr val="F7F7F7"/>
          </a:solidFill>
          <a:ln w="12700">
            <a:solidFill>
              <a:srgbClr val="D9DEDC"/>
            </a:solidFill>
            <a:prstDash val="solid"/>
          </a:ln>
        </p:spPr>
      </p:sp>
      <p:sp>
        <p:nvSpPr>
          <p:cNvPr id="5" name="Text 3"/>
          <p:cNvSpPr txBox="1"/>
          <p:nvPr/>
        </p:nvSpPr>
        <p:spPr>
          <a:xfrm>
            <a:off x="822960" y="1600200"/>
            <a:ext cx="5486400" cy="457200"/>
          </a:xfrm>
          <a:prstGeom prst="rect">
            <a:avLst/>
          </a:prstGeom>
          <a:noFill/>
          <a:ln/>
        </p:spPr>
        <p:txBody>
          <a:bodyPr wrap="square" lIns="0" tIns="0" rIns="0" bIns="0" rtlCol="0" anchor="ctr"/>
          <a:lstStyle/>
          <a:p>
            <a:pPr indent="0" marL="0">
              <a:buNone/>
            </a:pPr>
            <a:r>
              <a:rPr lang="en-US" sz="2200" b="1" dirty="0">
                <a:solidFill>
                  <a:srgbClr val="138808"/>
                </a:solidFill>
                <a:latin typeface="Cambria" pitchFamily="34" charset="0"/>
                <a:ea typeface="Cambria" pitchFamily="34" charset="-122"/>
                <a:cs typeface="Cambria" pitchFamily="34" charset="-120"/>
              </a:rPr>
              <a:t>Used today</a:t>
            </a:r>
            <a:endParaRPr lang="en-US" sz="2200" dirty="0"/>
          </a:p>
        </p:txBody>
      </p:sp>
      <p:sp>
        <p:nvSpPr>
          <p:cNvPr id="6" name="Text 4"/>
          <p:cNvSpPr txBox="1"/>
          <p:nvPr/>
        </p:nvSpPr>
        <p:spPr>
          <a:xfrm>
            <a:off x="822960" y="2194560"/>
            <a:ext cx="5760720" cy="3749040"/>
          </a:xfrm>
          <a:prstGeom prst="rect">
            <a:avLst/>
          </a:prstGeom>
          <a:noFill/>
          <a:ln/>
        </p:spPr>
        <p:txBody>
          <a:bodyPr wrap="square" lIns="0" tIns="0" rIns="0" bIns="0" rtlCol="0" anchor="t"/>
          <a:lstStyle/>
          <a:p>
            <a:pPr indent="0" marL="0">
              <a:spcAft>
                <a:spcPts val="1000"/>
              </a:spcAft>
              <a:buNone/>
            </a:pPr>
            <a:r>
              <a:rPr lang="en-US" sz="1500" b="1" dirty="0">
                <a:solidFill>
                  <a:srgbClr val="0E1730"/>
                </a:solidFill>
                <a:latin typeface="Calibri" pitchFamily="34" charset="0"/>
                <a:ea typeface="Calibri" pitchFamily="34" charset="-122"/>
                <a:cs typeface="Calibri" pitchFamily="34" charset="-120"/>
              </a:rPr>
              <a:t>Gemini API: </a:t>
            </a:r>
            <a:pPr indent="0" marL="0">
              <a:spcAft>
                <a:spcPts val="1000"/>
              </a:spcAft>
              <a:buNone/>
            </a:pPr>
            <a:r>
              <a:rPr lang="en-US" sz="1500" dirty="0">
                <a:solidFill>
                  <a:srgbClr val="1F2430"/>
                </a:solidFill>
                <a:latin typeface="Calibri" pitchFamily="34" charset="0"/>
                <a:ea typeface="Calibri" pitchFamily="34" charset="-122"/>
                <a:cs typeface="Calibri" pitchFamily="34" charset="-120"/>
              </a:rPr>
              <a:t>structured JSON, Google Search grounding, vision, image generation, Veo video</a:t>
            </a:r>
            <a:endParaRPr lang="en-US" sz="1500" dirty="0"/>
          </a:p>
          <a:p>
            <a:pPr indent="0" marL="0">
              <a:spcAft>
                <a:spcPts val="1000"/>
              </a:spcAft>
              <a:buNone/>
            </a:pPr>
            <a:r>
              <a:rPr lang="en-US" sz="1500" b="1" dirty="0">
                <a:solidFill>
                  <a:srgbClr val="0E1730"/>
                </a:solidFill>
                <a:latin typeface="Calibri" pitchFamily="34" charset="0"/>
                <a:ea typeface="Calibri" pitchFamily="34" charset="-122"/>
                <a:cs typeface="Calibri" pitchFamily="34" charset="-120"/>
              </a:rPr>
              <a:t>FastAPI + Pydantic: </a:t>
            </a:r>
            <a:pPr indent="0" marL="0">
              <a:spcAft>
                <a:spcPts val="1000"/>
              </a:spcAft>
              <a:buNone/>
            </a:pPr>
            <a:r>
              <a:rPr lang="en-US" sz="1500" dirty="0">
                <a:solidFill>
                  <a:srgbClr val="1F2430"/>
                </a:solidFill>
                <a:latin typeface="Calibri" pitchFamily="34" charset="0"/>
                <a:ea typeface="Calibri" pitchFamily="34" charset="-122"/>
                <a:cs typeface="Calibri" pitchFamily="34" charset="-120"/>
              </a:rPr>
              <a:t>agents, bounded outputs, call budgets</a:t>
            </a:r>
            <a:endParaRPr lang="en-US" sz="1500" dirty="0"/>
          </a:p>
          <a:p>
            <a:pPr indent="0" marL="0">
              <a:spcAft>
                <a:spcPts val="1000"/>
              </a:spcAft>
              <a:buNone/>
            </a:pPr>
            <a:r>
              <a:rPr lang="en-US" sz="1500" b="1" dirty="0">
                <a:solidFill>
                  <a:srgbClr val="0E1730"/>
                </a:solidFill>
                <a:latin typeface="Calibri" pitchFamily="34" charset="0"/>
                <a:ea typeface="Calibri" pitchFamily="34" charset="-122"/>
                <a:cs typeface="Calibri" pitchFamily="34" charset="-120"/>
              </a:rPr>
              <a:t>Next.js, React, Three.js: </a:t>
            </a:r>
            <a:pPr indent="0" marL="0">
              <a:spcAft>
                <a:spcPts val="1000"/>
              </a:spcAft>
              <a:buNone/>
            </a:pPr>
            <a:r>
              <a:rPr lang="en-US" sz="1500" dirty="0">
                <a:solidFill>
                  <a:srgbClr val="1F2430"/>
                </a:solidFill>
                <a:latin typeface="Calibri" pitchFamily="34" charset="0"/>
                <a:ea typeface="Calibri" pitchFamily="34" charset="-122"/>
                <a:cs typeface="Calibri" pitchFamily="34" charset="-120"/>
              </a:rPr>
              <a:t>chat app, 3D plant, Leaflet map, MediaPipe</a:t>
            </a:r>
            <a:endParaRPr lang="en-US" sz="1500" dirty="0"/>
          </a:p>
          <a:p>
            <a:pPr indent="0" marL="0">
              <a:spcAft>
                <a:spcPts val="1000"/>
              </a:spcAft>
              <a:buNone/>
            </a:pPr>
            <a:r>
              <a:rPr lang="en-US" sz="1500" b="1" dirty="0">
                <a:solidFill>
                  <a:srgbClr val="0E1730"/>
                </a:solidFill>
                <a:latin typeface="Calibri" pitchFamily="34" charset="0"/>
                <a:ea typeface="Calibri" pitchFamily="34" charset="-122"/>
                <a:cs typeface="Calibri" pitchFamily="34" charset="-120"/>
              </a:rPr>
              <a:t>Docker, Cloud Run, Secret Manager: </a:t>
            </a:r>
            <a:pPr indent="0" marL="0">
              <a:spcAft>
                <a:spcPts val="1000"/>
              </a:spcAft>
              <a:buNone/>
            </a:pPr>
            <a:r>
              <a:rPr lang="en-US" sz="1500" dirty="0">
                <a:solidFill>
                  <a:srgbClr val="1F2430"/>
                </a:solidFill>
                <a:latin typeface="Calibri" pitchFamily="34" charset="0"/>
                <a:ea typeface="Calibri" pitchFamily="34" charset="-122"/>
                <a:cs typeface="Calibri" pitchFamily="34" charset="-120"/>
              </a:rPr>
              <a:t>deployment-ready, key kept out of the image</a:t>
            </a:r>
            <a:endParaRPr lang="en-US" sz="1500" dirty="0"/>
          </a:p>
          <a:p>
            <a:pPr indent="0" marL="0">
              <a:spcAft>
                <a:spcPts val="1000"/>
              </a:spcAft>
              <a:buNone/>
            </a:pPr>
            <a:r>
              <a:rPr lang="en-US" sz="1500" b="1" dirty="0">
                <a:solidFill>
                  <a:srgbClr val="0E1730"/>
                </a:solidFill>
                <a:latin typeface="Calibri" pitchFamily="34" charset="0"/>
                <a:ea typeface="Calibri" pitchFamily="34" charset="-122"/>
                <a:cs typeface="Calibri" pitchFamily="34" charset="-120"/>
              </a:rPr>
              <a:t>OpenStreetMap, Open-Meteo: </a:t>
            </a:r>
            <a:pPr indent="0" marL="0">
              <a:spcAft>
                <a:spcPts val="1000"/>
              </a:spcAft>
              <a:buNone/>
            </a:pPr>
            <a:r>
              <a:rPr lang="en-US" sz="1500" dirty="0">
                <a:solidFill>
                  <a:srgbClr val="1F2430"/>
                </a:solidFill>
                <a:latin typeface="Calibri" pitchFamily="34" charset="0"/>
                <a:ea typeface="Calibri" pitchFamily="34" charset="-122"/>
                <a:cs typeface="Calibri" pitchFamily="34" charset="-120"/>
              </a:rPr>
              <a:t>places, wind and sunshine</a:t>
            </a:r>
            <a:endParaRPr lang="en-US" sz="1500" dirty="0"/>
          </a:p>
        </p:txBody>
      </p:sp>
      <p:sp>
        <p:nvSpPr>
          <p:cNvPr id="7" name="Text 5"/>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200" b="1" dirty="0">
                <a:solidFill>
                  <a:srgbClr val="5C6470"/>
                </a:solidFill>
                <a:latin typeface="Cambria" pitchFamily="34" charset="0"/>
                <a:ea typeface="Cambria" pitchFamily="34" charset="-122"/>
                <a:cs typeface="Cambria" pitchFamily="34" charset="-120"/>
              </a:rPr>
              <a:t>Planned</a:t>
            </a:r>
            <a:endParaRPr lang="en-US" sz="2200" dirty="0"/>
          </a:p>
        </p:txBody>
      </p:sp>
      <p:sp>
        <p:nvSpPr>
          <p:cNvPr id="8" name="Text 6"/>
          <p:cNvSpPr txBox="1"/>
          <p:nvPr/>
        </p:nvSpPr>
        <p:spPr>
          <a:xfrm>
            <a:off x="7406640" y="2194560"/>
            <a:ext cx="4023360" cy="3657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5C6470"/>
                </a:solidFill>
                <a:latin typeface="Calibri" pitchFamily="34" charset="0"/>
                <a:ea typeface="Calibri" pitchFamily="34" charset="-122"/>
                <a:cs typeface="Calibri" pitchFamily="34" charset="-120"/>
              </a:rPr>
              <a:t>Vertex AI (Gemini on Vertex, forecasting)</a:t>
            </a:r>
            <a:endParaRPr lang="en-US" sz="1500" dirty="0"/>
          </a:p>
          <a:p>
            <a:pPr marL="342900" indent="-342900">
              <a:spcAft>
                <a:spcPts val="900"/>
              </a:spcAft>
              <a:buSzPct val="100000"/>
              <a:buChar char="•"/>
            </a:pPr>
            <a:r>
              <a:rPr lang="en-US" sz="1500" dirty="0">
                <a:solidFill>
                  <a:srgbClr val="5C6470"/>
                </a:solidFill>
                <a:latin typeface="Calibri" pitchFamily="34" charset="0"/>
                <a:ea typeface="Calibri" pitchFamily="34" charset="-122"/>
                <a:cs typeface="Calibri" pitchFamily="34" charset="-120"/>
              </a:rPr>
              <a:t>BigQuery (plant data)</a:t>
            </a:r>
            <a:endParaRPr lang="en-US" sz="1500" dirty="0"/>
          </a:p>
          <a:p>
            <a:pPr marL="342900" indent="-342900">
              <a:spcAft>
                <a:spcPts val="900"/>
              </a:spcAft>
              <a:buSzPct val="100000"/>
              <a:buChar char="•"/>
            </a:pPr>
            <a:r>
              <a:rPr lang="en-US" sz="1500" dirty="0">
                <a:solidFill>
                  <a:srgbClr val="5C6470"/>
                </a:solidFill>
                <a:latin typeface="Calibri" pitchFamily="34" charset="0"/>
                <a:ea typeface="Calibri" pitchFamily="34" charset="-122"/>
                <a:cs typeface="Calibri" pitchFamily="34" charset="-120"/>
              </a:rPr>
              <a:t>Pub/Sub and Dataflow (streams)</a:t>
            </a:r>
            <a:endParaRPr lang="en-US" sz="1500" dirty="0"/>
          </a:p>
          <a:p>
            <a:pPr marL="342900" indent="-342900">
              <a:spcAft>
                <a:spcPts val="900"/>
              </a:spcAft>
              <a:buSzPct val="100000"/>
              <a:buChar char="•"/>
            </a:pPr>
            <a:r>
              <a:rPr lang="en-US" sz="1500" dirty="0">
                <a:solidFill>
                  <a:srgbClr val="5C6470"/>
                </a:solidFill>
                <a:latin typeface="Calibri" pitchFamily="34" charset="0"/>
                <a:ea typeface="Calibri" pitchFamily="34" charset="-122"/>
                <a:cs typeface="Calibri" pitchFamily="34" charset="-120"/>
              </a:rPr>
              <a:t>Cloud Storage (files, photos)</a:t>
            </a:r>
            <a:endParaRPr lang="en-US" sz="1500" dirty="0"/>
          </a:p>
          <a:p>
            <a:pPr marL="342900" indent="-342900">
              <a:spcAft>
                <a:spcPts val="900"/>
              </a:spcAft>
              <a:buSzPct val="100000"/>
              <a:buChar char="•"/>
            </a:pPr>
            <a:r>
              <a:rPr lang="en-US" sz="1500" dirty="0">
                <a:solidFill>
                  <a:srgbClr val="5C6470"/>
                </a:solidFill>
                <a:latin typeface="Calibri" pitchFamily="34" charset="0"/>
                <a:ea typeface="Calibri" pitchFamily="34" charset="-122"/>
                <a:cs typeface="Calibri" pitchFamily="34" charset="-120"/>
              </a:rPr>
              <a:t>Firebase Auth and Firestore</a:t>
            </a:r>
            <a:endParaRPr lang="en-US" sz="1500" dirty="0"/>
          </a:p>
          <a:p>
            <a:pPr marL="342900" indent="-342900">
              <a:spcAft>
                <a:spcPts val="900"/>
              </a:spcAft>
              <a:buSzPct val="100000"/>
              <a:buChar char="•"/>
            </a:pPr>
            <a:r>
              <a:rPr lang="en-US" sz="1500" dirty="0">
                <a:solidFill>
                  <a:srgbClr val="5C6470"/>
                </a:solidFill>
                <a:latin typeface="Calibri" pitchFamily="34" charset="0"/>
                <a:ea typeface="Calibri" pitchFamily="34" charset="-122"/>
                <a:cs typeface="Calibri" pitchFamily="34" charset="-120"/>
              </a:rPr>
              <a:t>Vision AI for inspection at scale</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Estimated implementation cost: what drives it</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377440"/>
                <a:gridCol w="6309360"/>
                <a:gridCol w="237744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Item</a:t>
                      </a:r>
                      <a:endParaRPr lang="en-US" sz="1500" dirty="0">
                        <a:latin typeface="Calibri" charset="0"/>
                        <a:ea typeface="Calibri" charset="0"/>
                        <a:cs typeface="Calibri" charset="0"/>
                      </a:endParaRPr>
                    </a:p>
                  </a:txBody>
                  <a:tcPr marL="91440" marR="91440" marT="45720" marB="45720">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0E173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drives the cost</a:t>
                      </a:r>
                      <a:endParaRPr lang="en-US" sz="1500" dirty="0">
                        <a:latin typeface="Calibri" charset="0"/>
                        <a:ea typeface="Calibri" charset="0"/>
                        <a:cs typeface="Calibri" charset="0"/>
                      </a:endParaRPr>
                    </a:p>
                  </a:txBody>
                  <a:tcPr marL="91440" marR="91440" marT="45720" marB="45720">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0E173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Today</a:t>
                      </a:r>
                      <a:endParaRPr lang="en-US" sz="1500" dirty="0">
                        <a:latin typeface="Calibri" charset="0"/>
                        <a:ea typeface="Calibri" charset="0"/>
                        <a:cs typeface="Calibri" charset="0"/>
                      </a:endParaRPr>
                    </a:p>
                  </a:txBody>
                  <a:tcPr marL="91440" marR="91440" marT="45720" marB="45720">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0E1730"/>
                    </a:solidFill>
                  </a:tcPr>
                </a:tc>
              </a:tr>
              <a:tr h="914400">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Gemini calls</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About six web requests build one full plan, each one to two model calls; photos, video and the copilot are extra and on demand</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138808"/>
                          </a:solidFill>
                          <a:latin typeface="Calibri" pitchFamily="34" charset="0"/>
                          <a:ea typeface="Calibri" pitchFamily="34" charset="-122"/>
                          <a:cs typeface="Calibri" pitchFamily="34" charset="-120"/>
                        </a:rPr>
                        <a:t>Not yet measured in rupees</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Cloud Run</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One 1 GB container; can scale to zero when idle, or keep one instance warm for a demo</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138808"/>
                          </a:solidFill>
                          <a:latin typeface="Calibri" pitchFamily="34" charset="0"/>
                          <a:ea typeface="Calibri" pitchFamily="34" charset="-122"/>
                          <a:cs typeface="Calibri" pitchFamily="34" charset="-120"/>
                        </a:rPr>
                        <a:t>Deployment-ready</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r>
              <a:tr h="640080">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Storage and database</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None on the server: chats stay in the browser</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138808"/>
                          </a:solidFill>
                          <a:latin typeface="Calibri" pitchFamily="34" charset="0"/>
                          <a:ea typeface="Calibri" pitchFamily="34" charset="-122"/>
                          <a:cs typeface="Calibri" pitchFamily="34" charset="-120"/>
                        </a:rPr>
                        <a:t>No cost yet</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Cost control</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Per-hour call limits per instance; max instances capped at deploy time</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138808"/>
                          </a:solidFill>
                          <a:latin typeface="Calibri" pitchFamily="34" charset="0"/>
                          <a:ea typeface="Calibri" pitchFamily="34" charset="-122"/>
                          <a:cs typeface="Calibri" pitchFamily="34" charset="-120"/>
                        </a:rPr>
                        <a:t>In place</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r>
              <a:tr h="822960">
                <a:tc>
                  <a:txBody>
                    <a:bodyPr/>
                    <a:lstStyle/>
                    <a:p>
                      <a:pPr indent="0" marL="0">
                        <a:buNone/>
                      </a:pPr>
                      <a:r>
                        <a:rPr lang="en-US" sz="1400" b="1" dirty="0">
                          <a:solidFill>
                            <a:srgbClr val="1F2430"/>
                          </a:solidFill>
                          <a:latin typeface="Calibri" pitchFamily="34" charset="0"/>
                          <a:ea typeface="Calibri" pitchFamily="34" charset="-122"/>
                          <a:cs typeface="Calibri" pitchFamily="34" charset="-120"/>
                        </a:rPr>
                        <a:t>Next phase</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1F2430"/>
                          </a:solidFill>
                          <a:latin typeface="Calibri" pitchFamily="34" charset="0"/>
                          <a:ea typeface="Calibri" pitchFamily="34" charset="-122"/>
                          <a:cs typeface="Calibri" pitchFamily="34" charset="-120"/>
                        </a:rPr>
                        <a:t>BigQuery, Firebase and Vertex AI bring usage-based costs when real plants connect</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138808"/>
                          </a:solidFill>
                          <a:latin typeface="Calibri" pitchFamily="34" charset="0"/>
                          <a:ea typeface="Calibri" pitchFamily="34" charset="-122"/>
                          <a:cs typeface="Calibri" pitchFamily="34" charset="-120"/>
                        </a:rPr>
                        <a:t>To be estimated</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400" dirty="0">
                <a:solidFill>
                  <a:srgbClr val="5C6470"/>
                </a:solidFill>
                <a:latin typeface="Calibri" pitchFamily="34" charset="0"/>
                <a:ea typeface="Calibri" pitchFamily="34" charset="-122"/>
                <a:cs typeface="Calibri" pitchFamily="34" charset="-120"/>
              </a:rPr>
              <a:t>We have not turned usage into a rupee figure: model pricing changes, and we would rather say so than invent one.</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Snapshots of the working prototype</a:t>
            </a:r>
            <a:endParaRPr lang="en-US" sz="3000" dirty="0"/>
          </a:p>
        </p:txBody>
      </p:sp>
      <p:sp>
        <p:nvSpPr>
          <p:cNvPr id="3" name="Shape 1"/>
          <p:cNvSpPr/>
          <p:nvPr/>
        </p:nvSpPr>
        <p:spPr>
          <a:xfrm>
            <a:off x="895714" y="1289304"/>
            <a:ext cx="2872011" cy="2084832"/>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4" name="Image 0" descr="Pineapple plant: farm in, cans out">    </p:cNvPr>
          <p:cNvPicPr>
            <a:picLocks noChangeAspect="1"/>
          </p:cNvPicPr>
          <p:nvPr/>
        </p:nvPicPr>
        <p:blipFill>
          <a:blip r:embed="rId1"/>
          <a:stretch>
            <a:fillRect/>
          </a:stretch>
        </p:blipFill>
        <p:spPr>
          <a:xfrm>
            <a:off x="932290" y="1325880"/>
            <a:ext cx="2798859" cy="2011680"/>
          </a:xfrm>
          <a:prstGeom prst="rect">
            <a:avLst/>
          </a:prstGeom>
        </p:spPr>
      </p:pic>
      <p:sp>
        <p:nvSpPr>
          <p:cNvPr id="5" name="Text 2"/>
          <p:cNvSpPr txBox="1"/>
          <p:nvPr/>
        </p:nvSpPr>
        <p:spPr>
          <a:xfrm>
            <a:off x="548640" y="3447288"/>
            <a:ext cx="356616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Pineapple plant: farm in, cans out</a:t>
            </a:r>
            <a:endParaRPr lang="en-US" sz="1200" dirty="0"/>
          </a:p>
        </p:txBody>
      </p:sp>
      <p:sp>
        <p:nvSpPr>
          <p:cNvPr id="6" name="Shape 3"/>
          <p:cNvSpPr/>
          <p:nvPr/>
        </p:nvSpPr>
        <p:spPr>
          <a:xfrm>
            <a:off x="4547931" y="1289304"/>
            <a:ext cx="3102233" cy="2084832"/>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7" name="Image 1" descr="Reuse and save: Today, Fix, Result">    </p:cNvPr>
          <p:cNvPicPr>
            <a:picLocks noChangeAspect="1"/>
          </p:cNvPicPr>
          <p:nvPr/>
        </p:nvPicPr>
        <p:blipFill>
          <a:blip r:embed="rId2"/>
          <a:stretch>
            <a:fillRect/>
          </a:stretch>
        </p:blipFill>
        <p:spPr>
          <a:xfrm>
            <a:off x="4584507" y="1325880"/>
            <a:ext cx="3029081" cy="2011680"/>
          </a:xfrm>
          <a:prstGeom prst="rect">
            <a:avLst/>
          </a:prstGeom>
        </p:spPr>
      </p:pic>
      <p:sp>
        <p:nvSpPr>
          <p:cNvPr id="8" name="Text 4"/>
          <p:cNvSpPr txBox="1"/>
          <p:nvPr/>
        </p:nvSpPr>
        <p:spPr>
          <a:xfrm>
            <a:off x="4315968" y="3447288"/>
            <a:ext cx="356616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Reuse and save: Today, Fix, Result</a:t>
            </a:r>
            <a:endParaRPr lang="en-US" sz="1200" dirty="0"/>
          </a:p>
        </p:txBody>
      </p:sp>
      <p:sp>
        <p:nvSpPr>
          <p:cNvPr id="9" name="Shape 5"/>
          <p:cNvSpPr/>
          <p:nvPr/>
        </p:nvSpPr>
        <p:spPr>
          <a:xfrm>
            <a:off x="8315259" y="1289304"/>
            <a:ext cx="3102233" cy="2084832"/>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0" name="Image 2" descr="Best location: ranked areas on the map">    </p:cNvPr>
          <p:cNvPicPr>
            <a:picLocks noChangeAspect="1"/>
          </p:cNvPicPr>
          <p:nvPr/>
        </p:nvPicPr>
        <p:blipFill>
          <a:blip r:embed="rId3"/>
          <a:stretch>
            <a:fillRect/>
          </a:stretch>
        </p:blipFill>
        <p:spPr>
          <a:xfrm>
            <a:off x="8351835" y="1325880"/>
            <a:ext cx="3029081" cy="2011680"/>
          </a:xfrm>
          <a:prstGeom prst="rect">
            <a:avLst/>
          </a:prstGeom>
        </p:spPr>
      </p:pic>
      <p:sp>
        <p:nvSpPr>
          <p:cNvPr id="11" name="Text 6"/>
          <p:cNvSpPr txBox="1"/>
          <p:nvPr/>
        </p:nvSpPr>
        <p:spPr>
          <a:xfrm>
            <a:off x="8083296" y="3447288"/>
            <a:ext cx="356616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Best location: ranked areas on the map</a:t>
            </a:r>
            <a:endParaRPr lang="en-US" sz="1200" dirty="0"/>
          </a:p>
        </p:txBody>
      </p:sp>
      <p:sp>
        <p:nvSpPr>
          <p:cNvPr id="12" name="Shape 7"/>
          <p:cNvSpPr/>
          <p:nvPr/>
        </p:nvSpPr>
        <p:spPr>
          <a:xfrm>
            <a:off x="780603" y="3941064"/>
            <a:ext cx="3102233" cy="2084832"/>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3" name="Image 3" descr="Smoke and water, with and without AI">    </p:cNvPr>
          <p:cNvPicPr>
            <a:picLocks noChangeAspect="1"/>
          </p:cNvPicPr>
          <p:nvPr/>
        </p:nvPicPr>
        <p:blipFill>
          <a:blip r:embed="rId4"/>
          <a:stretch>
            <a:fillRect/>
          </a:stretch>
        </p:blipFill>
        <p:spPr>
          <a:xfrm>
            <a:off x="817179" y="3977640"/>
            <a:ext cx="3029081" cy="2011680"/>
          </a:xfrm>
          <a:prstGeom prst="rect">
            <a:avLst/>
          </a:prstGeom>
        </p:spPr>
      </p:pic>
      <p:sp>
        <p:nvSpPr>
          <p:cNvPr id="14" name="Text 8"/>
          <p:cNvSpPr txBox="1"/>
          <p:nvPr/>
        </p:nvSpPr>
        <p:spPr>
          <a:xfrm>
            <a:off x="548640" y="6099048"/>
            <a:ext cx="356616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Smoke and water, with and without AI</a:t>
            </a:r>
            <a:endParaRPr lang="en-US" sz="1200" dirty="0"/>
          </a:p>
        </p:txBody>
      </p:sp>
      <p:sp>
        <p:nvSpPr>
          <p:cNvPr id="15" name="Shape 9"/>
          <p:cNvSpPr/>
          <p:nvPr/>
        </p:nvSpPr>
        <p:spPr>
          <a:xfrm>
            <a:off x="4547931" y="3941064"/>
            <a:ext cx="3102233" cy="2084832"/>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6" name="Image 4" descr="Your data: per-unit use, gap, trend">    </p:cNvPr>
          <p:cNvPicPr>
            <a:picLocks noChangeAspect="1"/>
          </p:cNvPicPr>
          <p:nvPr/>
        </p:nvPicPr>
        <p:blipFill>
          <a:blip r:embed="rId5"/>
          <a:stretch>
            <a:fillRect/>
          </a:stretch>
        </p:blipFill>
        <p:spPr>
          <a:xfrm>
            <a:off x="4584507" y="3977640"/>
            <a:ext cx="3029081" cy="2011680"/>
          </a:xfrm>
          <a:prstGeom prst="rect">
            <a:avLst/>
          </a:prstGeom>
        </p:spPr>
      </p:pic>
      <p:sp>
        <p:nvSpPr>
          <p:cNvPr id="17" name="Text 10"/>
          <p:cNvSpPr txBox="1"/>
          <p:nvPr/>
        </p:nvSpPr>
        <p:spPr>
          <a:xfrm>
            <a:off x="4315968" y="6099048"/>
            <a:ext cx="356616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Your data: per-unit use, gap, trend</a:t>
            </a:r>
            <a:endParaRPr lang="en-US" sz="1200" dirty="0"/>
          </a:p>
        </p:txBody>
      </p:sp>
      <p:sp>
        <p:nvSpPr>
          <p:cNvPr id="18" name="Shape 11"/>
          <p:cNvSpPr/>
          <p:nvPr/>
        </p:nvSpPr>
        <p:spPr>
          <a:xfrm>
            <a:off x="8315259" y="3941064"/>
            <a:ext cx="3102233" cy="2084832"/>
          </a:xfrm>
          <a:prstGeom prst="rect">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9" name="Image 5" descr="Photo inspection with Gemini vision">    </p:cNvPr>
          <p:cNvPicPr>
            <a:picLocks noChangeAspect="1"/>
          </p:cNvPicPr>
          <p:nvPr/>
        </p:nvPicPr>
        <p:blipFill>
          <a:blip r:embed="rId6"/>
          <a:stretch>
            <a:fillRect/>
          </a:stretch>
        </p:blipFill>
        <p:spPr>
          <a:xfrm>
            <a:off x="8351835" y="3977640"/>
            <a:ext cx="3029081" cy="2011680"/>
          </a:xfrm>
          <a:prstGeom prst="rect">
            <a:avLst/>
          </a:prstGeom>
        </p:spPr>
      </p:pic>
      <p:sp>
        <p:nvSpPr>
          <p:cNvPr id="20" name="Text 12"/>
          <p:cNvSpPr txBox="1"/>
          <p:nvPr/>
        </p:nvSpPr>
        <p:spPr>
          <a:xfrm>
            <a:off x="8083296" y="6099048"/>
            <a:ext cx="3566160" cy="502920"/>
          </a:xfrm>
          <a:prstGeom prst="rect">
            <a:avLst/>
          </a:prstGeom>
          <a:noFill/>
          <a:ln/>
        </p:spPr>
        <p:txBody>
          <a:bodyPr wrap="square" lIns="0" tIns="0" rIns="0" bIns="0" rtlCol="0" anchor="t"/>
          <a:lstStyle/>
          <a:p>
            <a:pPr algn="ctr" indent="0" marL="0">
              <a:buNone/>
            </a:pPr>
            <a:r>
              <a:rPr lang="en-US" sz="1200" dirty="0">
                <a:solidFill>
                  <a:srgbClr val="5C6470"/>
                </a:solidFill>
                <a:latin typeface="Calibri" pitchFamily="34" charset="0"/>
                <a:ea typeface="Calibri" pitchFamily="34" charset="-122"/>
                <a:cs typeface="Calibri" pitchFamily="34" charset="-120"/>
              </a:rPr>
              <a:t>Photo inspection with Gemini vision</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Prototype performance: measured, not promised</a:t>
            </a:r>
            <a:endParaRPr lang="en-US" sz="3000" dirty="0"/>
          </a:p>
        </p:txBody>
      </p:sp>
      <p:sp>
        <p:nvSpPr>
          <p:cNvPr id="3" name="Text 1"/>
          <p:cNvSpPr txBox="1"/>
          <p:nvPr/>
        </p:nvSpPr>
        <p:spPr>
          <a:xfrm>
            <a:off x="548640" y="1371600"/>
            <a:ext cx="6035040" cy="411480"/>
          </a:xfrm>
          <a:prstGeom prst="rect">
            <a:avLst/>
          </a:prstGeom>
          <a:noFill/>
          <a:ln/>
        </p:spPr>
        <p:txBody>
          <a:bodyPr wrap="square" lIns="0" tIns="0" rIns="0" bIns="0" rtlCol="0" anchor="ctr"/>
          <a:lstStyle/>
          <a:p>
            <a:pPr indent="0" marL="0">
              <a:buNone/>
            </a:pPr>
            <a:r>
              <a:rPr lang="en-US" sz="1600" b="1" dirty="0">
                <a:solidFill>
                  <a:srgbClr val="0E1730"/>
                </a:solidFill>
                <a:latin typeface="Calibri" pitchFamily="34" charset="0"/>
                <a:ea typeface="Calibri" pitchFamily="34" charset="-122"/>
                <a:cs typeface="Calibri" pitchFamily="34" charset="-120"/>
              </a:rPr>
              <a:t>Response time in seconds (live Gemini)</a:t>
            </a:r>
            <a:endParaRPr lang="en-US" sz="1600" dirty="0"/>
          </a:p>
        </p:txBody>
      </p:sp>
      <p:sp>
        <p:nvSpPr>
          <p:cNvPr id="4" name="Text 2"/>
          <p:cNvSpPr txBox="1"/>
          <p:nvPr/>
        </p:nvSpPr>
        <p:spPr>
          <a:xfrm>
            <a:off x="548640" y="1965960"/>
            <a:ext cx="2011680" cy="4572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Analytics (no AI)</a:t>
            </a:r>
            <a:endParaRPr lang="en-US" sz="1400" dirty="0"/>
          </a:p>
        </p:txBody>
      </p:sp>
      <p:sp>
        <p:nvSpPr>
          <p:cNvPr id="5" name="bar Analytics (no AI)"/>
          <p:cNvSpPr/>
          <p:nvPr/>
        </p:nvSpPr>
        <p:spPr>
          <a:xfrm>
            <a:off x="2651760" y="2039112"/>
            <a:ext cx="45720" cy="310896"/>
          </a:xfrm>
          <a:prstGeom prst="rect">
            <a:avLst/>
          </a:prstGeom>
          <a:solidFill>
            <a:srgbClr val="138808"/>
          </a:solidFill>
          <a:ln w="6350">
            <a:solidFill>
              <a:srgbClr val="138808"/>
            </a:solidFill>
            <a:prstDash val="solid"/>
          </a:ln>
        </p:spPr>
      </p:sp>
      <p:sp>
        <p:nvSpPr>
          <p:cNvPr id="6" name="Text 4"/>
          <p:cNvSpPr txBox="1"/>
          <p:nvPr/>
        </p:nvSpPr>
        <p:spPr>
          <a:xfrm>
            <a:off x="2807208" y="1965960"/>
            <a:ext cx="914400" cy="45720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about 0.01</a:t>
            </a:r>
            <a:endParaRPr lang="en-US" sz="1400" dirty="0"/>
          </a:p>
        </p:txBody>
      </p:sp>
      <p:sp>
        <p:nvSpPr>
          <p:cNvPr id="7" name="Text 5"/>
          <p:cNvSpPr txBox="1"/>
          <p:nvPr/>
        </p:nvSpPr>
        <p:spPr>
          <a:xfrm>
            <a:off x="548640" y="2569464"/>
            <a:ext cx="2011680" cy="4572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Photo inspection</a:t>
            </a:r>
            <a:endParaRPr lang="en-US" sz="1400" dirty="0"/>
          </a:p>
        </p:txBody>
      </p:sp>
      <p:sp>
        <p:nvSpPr>
          <p:cNvPr id="8" name="bar Photo inspection"/>
          <p:cNvSpPr/>
          <p:nvPr/>
        </p:nvSpPr>
        <p:spPr>
          <a:xfrm>
            <a:off x="2651760" y="2642616"/>
            <a:ext cx="883532" cy="310896"/>
          </a:xfrm>
          <a:prstGeom prst="rect">
            <a:avLst/>
          </a:prstGeom>
          <a:solidFill>
            <a:srgbClr val="FF9933"/>
          </a:solidFill>
          <a:ln w="6350">
            <a:solidFill>
              <a:srgbClr val="FF9933"/>
            </a:solidFill>
            <a:prstDash val="solid"/>
          </a:ln>
        </p:spPr>
      </p:sp>
      <p:sp>
        <p:nvSpPr>
          <p:cNvPr id="9" name="Text 7"/>
          <p:cNvSpPr txBox="1"/>
          <p:nvPr/>
        </p:nvSpPr>
        <p:spPr>
          <a:xfrm>
            <a:off x="3645020" y="2569464"/>
            <a:ext cx="914400" cy="45720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4.1</a:t>
            </a:r>
            <a:endParaRPr lang="en-US" sz="1400" dirty="0"/>
          </a:p>
        </p:txBody>
      </p:sp>
      <p:sp>
        <p:nvSpPr>
          <p:cNvPr id="10" name="Text 8"/>
          <p:cNvSpPr txBox="1"/>
          <p:nvPr/>
        </p:nvSpPr>
        <p:spPr>
          <a:xfrm>
            <a:off x="548640" y="3172968"/>
            <a:ext cx="2011680" cy="4572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Reuse plan</a:t>
            </a:r>
            <a:endParaRPr lang="en-US" sz="1400" dirty="0"/>
          </a:p>
        </p:txBody>
      </p:sp>
      <p:sp>
        <p:nvSpPr>
          <p:cNvPr id="11" name="bar Reuse plan"/>
          <p:cNvSpPr/>
          <p:nvPr/>
        </p:nvSpPr>
        <p:spPr>
          <a:xfrm>
            <a:off x="2651760" y="3246120"/>
            <a:ext cx="1055928" cy="310896"/>
          </a:xfrm>
          <a:prstGeom prst="rect">
            <a:avLst/>
          </a:prstGeom>
          <a:solidFill>
            <a:srgbClr val="FF9933"/>
          </a:solidFill>
          <a:ln w="6350">
            <a:solidFill>
              <a:srgbClr val="FF9933"/>
            </a:solidFill>
            <a:prstDash val="solid"/>
          </a:ln>
        </p:spPr>
      </p:sp>
      <p:sp>
        <p:nvSpPr>
          <p:cNvPr id="12" name="Text 10"/>
          <p:cNvSpPr txBox="1"/>
          <p:nvPr/>
        </p:nvSpPr>
        <p:spPr>
          <a:xfrm>
            <a:off x="3817416" y="3172968"/>
            <a:ext cx="914400" cy="45720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4.9</a:t>
            </a:r>
            <a:endParaRPr lang="en-US" sz="1400" dirty="0"/>
          </a:p>
        </p:txBody>
      </p:sp>
      <p:sp>
        <p:nvSpPr>
          <p:cNvPr id="13" name="Text 11"/>
          <p:cNvSpPr txBox="1"/>
          <p:nvPr/>
        </p:nvSpPr>
        <p:spPr>
          <a:xfrm>
            <a:off x="548640" y="3776472"/>
            <a:ext cx="2011680" cy="4572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Ask the AI</a:t>
            </a:r>
            <a:endParaRPr lang="en-US" sz="1400" dirty="0"/>
          </a:p>
        </p:txBody>
      </p:sp>
      <p:sp>
        <p:nvSpPr>
          <p:cNvPr id="14" name="bar Ask the AI"/>
          <p:cNvSpPr/>
          <p:nvPr/>
        </p:nvSpPr>
        <p:spPr>
          <a:xfrm>
            <a:off x="2651760" y="3849624"/>
            <a:ext cx="1163676" cy="310896"/>
          </a:xfrm>
          <a:prstGeom prst="rect">
            <a:avLst/>
          </a:prstGeom>
          <a:solidFill>
            <a:srgbClr val="FF9933"/>
          </a:solidFill>
          <a:ln w="6350">
            <a:solidFill>
              <a:srgbClr val="FF9933"/>
            </a:solidFill>
            <a:prstDash val="solid"/>
          </a:ln>
        </p:spPr>
      </p:sp>
      <p:sp>
        <p:nvSpPr>
          <p:cNvPr id="15" name="Text 13"/>
          <p:cNvSpPr txBox="1"/>
          <p:nvPr/>
        </p:nvSpPr>
        <p:spPr>
          <a:xfrm>
            <a:off x="3925164" y="3776472"/>
            <a:ext cx="914400" cy="45720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5.4</a:t>
            </a:r>
            <a:endParaRPr lang="en-US" sz="1400" dirty="0"/>
          </a:p>
        </p:txBody>
      </p:sp>
      <p:sp>
        <p:nvSpPr>
          <p:cNvPr id="16" name="Text 14"/>
          <p:cNvSpPr txBox="1"/>
          <p:nvPr/>
        </p:nvSpPr>
        <p:spPr>
          <a:xfrm>
            <a:off x="548640" y="4379976"/>
            <a:ext cx="2011680" cy="4572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Best location</a:t>
            </a:r>
            <a:endParaRPr lang="en-US" sz="1400" dirty="0"/>
          </a:p>
        </p:txBody>
      </p:sp>
      <p:sp>
        <p:nvSpPr>
          <p:cNvPr id="17" name="bar Best location"/>
          <p:cNvSpPr/>
          <p:nvPr/>
        </p:nvSpPr>
        <p:spPr>
          <a:xfrm>
            <a:off x="2651760" y="4453128"/>
            <a:ext cx="2736793" cy="310896"/>
          </a:xfrm>
          <a:prstGeom prst="rect">
            <a:avLst/>
          </a:prstGeom>
          <a:solidFill>
            <a:srgbClr val="FF9933"/>
          </a:solidFill>
          <a:ln w="6350">
            <a:solidFill>
              <a:srgbClr val="FF9933"/>
            </a:solidFill>
            <a:prstDash val="solid"/>
          </a:ln>
        </p:spPr>
      </p:sp>
      <p:sp>
        <p:nvSpPr>
          <p:cNvPr id="18" name="Text 16"/>
          <p:cNvSpPr txBox="1"/>
          <p:nvPr/>
        </p:nvSpPr>
        <p:spPr>
          <a:xfrm>
            <a:off x="5498281" y="4379976"/>
            <a:ext cx="914400" cy="45720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12.7</a:t>
            </a:r>
            <a:endParaRPr lang="en-US" sz="1400" dirty="0"/>
          </a:p>
        </p:txBody>
      </p:sp>
      <p:sp>
        <p:nvSpPr>
          <p:cNvPr id="19" name="Text 17"/>
          <p:cNvSpPr txBox="1"/>
          <p:nvPr/>
        </p:nvSpPr>
        <p:spPr>
          <a:xfrm>
            <a:off x="548640" y="4983480"/>
            <a:ext cx="2011680" cy="45720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Full plant design</a:t>
            </a:r>
            <a:endParaRPr lang="en-US" sz="1400" dirty="0"/>
          </a:p>
        </p:txBody>
      </p:sp>
      <p:sp>
        <p:nvSpPr>
          <p:cNvPr id="20" name="bar Full plant design"/>
          <p:cNvSpPr/>
          <p:nvPr/>
        </p:nvSpPr>
        <p:spPr>
          <a:xfrm>
            <a:off x="2651760" y="5056632"/>
            <a:ext cx="3383280" cy="310896"/>
          </a:xfrm>
          <a:prstGeom prst="rect">
            <a:avLst/>
          </a:prstGeom>
          <a:solidFill>
            <a:srgbClr val="FF9933"/>
          </a:solidFill>
          <a:ln w="6350">
            <a:solidFill>
              <a:srgbClr val="FF9933"/>
            </a:solidFill>
            <a:prstDash val="solid"/>
          </a:ln>
        </p:spPr>
      </p:sp>
      <p:sp>
        <p:nvSpPr>
          <p:cNvPr id="21" name="Text 19"/>
          <p:cNvSpPr txBox="1"/>
          <p:nvPr/>
        </p:nvSpPr>
        <p:spPr>
          <a:xfrm>
            <a:off x="6144768" y="4983480"/>
            <a:ext cx="914400" cy="457200"/>
          </a:xfrm>
          <a:prstGeom prst="rect">
            <a:avLst/>
          </a:prstGeom>
          <a:noFill/>
          <a:ln/>
        </p:spPr>
        <p:txBody>
          <a:bodyPr wrap="square" lIns="0" tIns="0" rIns="0" bIns="0" rtlCol="0" anchor="ctr"/>
          <a:lstStyle/>
          <a:p>
            <a:pPr indent="0" marL="0">
              <a:buNone/>
            </a:pPr>
            <a:r>
              <a:rPr lang="en-US" sz="1400" b="1" dirty="0">
                <a:solidFill>
                  <a:srgbClr val="1F2430"/>
                </a:solidFill>
                <a:latin typeface="Calibri" pitchFamily="34" charset="0"/>
                <a:ea typeface="Calibri" pitchFamily="34" charset="-122"/>
                <a:cs typeface="Calibri" pitchFamily="34" charset="-120"/>
              </a:rPr>
              <a:t>15.7</a:t>
            </a:r>
            <a:endParaRPr lang="en-US" sz="1400" dirty="0"/>
          </a:p>
        </p:txBody>
      </p:sp>
      <p:sp>
        <p:nvSpPr>
          <p:cNvPr id="22" name="Shape 20"/>
          <p:cNvSpPr/>
          <p:nvPr/>
        </p:nvSpPr>
        <p:spPr>
          <a:xfrm>
            <a:off x="6949440" y="1371600"/>
            <a:ext cx="2240280" cy="1920240"/>
          </a:xfrm>
          <a:prstGeom prst="roundRect">
            <a:avLst>
              <a:gd name="adj" fmla="val 5714"/>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7086600" y="1554480"/>
            <a:ext cx="1965960" cy="731520"/>
          </a:xfrm>
          <a:prstGeom prst="rect">
            <a:avLst/>
          </a:prstGeom>
          <a:noFill/>
          <a:ln/>
        </p:spPr>
        <p:txBody>
          <a:bodyPr wrap="square" lIns="0" tIns="0" rIns="0" bIns="0" rtlCol="0" anchor="ctr"/>
          <a:lstStyle/>
          <a:p>
            <a:pPr algn="ctr" indent="0" marL="0">
              <a:buNone/>
            </a:pPr>
            <a:r>
              <a:rPr lang="en-US" sz="3200" b="1" dirty="0">
                <a:solidFill>
                  <a:srgbClr val="138808"/>
                </a:solidFill>
                <a:latin typeface="Cambria" pitchFamily="34" charset="0"/>
                <a:ea typeface="Cambria" pitchFamily="34" charset="-122"/>
                <a:cs typeface="Cambria" pitchFamily="34" charset="-120"/>
              </a:rPr>
              <a:t>229</a:t>
            </a:r>
            <a:endParaRPr lang="en-US" sz="3200" dirty="0"/>
          </a:p>
        </p:txBody>
      </p:sp>
      <p:sp>
        <p:nvSpPr>
          <p:cNvPr id="24" name="Text 22"/>
          <p:cNvSpPr txBox="1"/>
          <p:nvPr/>
        </p:nvSpPr>
        <p:spPr>
          <a:xfrm>
            <a:off x="7086600" y="2331720"/>
            <a:ext cx="1965960" cy="8686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backend tests passing</a:t>
            </a:r>
            <a:endParaRPr lang="en-US" sz="1300" dirty="0"/>
          </a:p>
        </p:txBody>
      </p:sp>
      <p:sp>
        <p:nvSpPr>
          <p:cNvPr id="25" name="Shape 23"/>
          <p:cNvSpPr/>
          <p:nvPr/>
        </p:nvSpPr>
        <p:spPr>
          <a:xfrm>
            <a:off x="9345168" y="1371600"/>
            <a:ext cx="2240280" cy="1920240"/>
          </a:xfrm>
          <a:prstGeom prst="roundRect">
            <a:avLst>
              <a:gd name="adj" fmla="val 5714"/>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26" name="Text 24"/>
          <p:cNvSpPr txBox="1"/>
          <p:nvPr/>
        </p:nvSpPr>
        <p:spPr>
          <a:xfrm>
            <a:off x="9482328" y="1554480"/>
            <a:ext cx="1965960" cy="731520"/>
          </a:xfrm>
          <a:prstGeom prst="rect">
            <a:avLst/>
          </a:prstGeom>
          <a:noFill/>
          <a:ln/>
        </p:spPr>
        <p:txBody>
          <a:bodyPr wrap="square" lIns="0" tIns="0" rIns="0" bIns="0" rtlCol="0" anchor="ctr"/>
          <a:lstStyle/>
          <a:p>
            <a:pPr algn="ctr" indent="0" marL="0">
              <a:buNone/>
            </a:pPr>
            <a:r>
              <a:rPr lang="en-US" sz="3200" b="1" dirty="0">
                <a:solidFill>
                  <a:srgbClr val="138808"/>
                </a:solidFill>
                <a:latin typeface="Cambria" pitchFamily="34" charset="0"/>
                <a:ea typeface="Cambria" pitchFamily="34" charset="-122"/>
                <a:cs typeface="Cambria" pitchFamily="34" charset="-120"/>
              </a:rPr>
              <a:t>92</a:t>
            </a:r>
            <a:endParaRPr lang="en-US" sz="3200" dirty="0"/>
          </a:p>
        </p:txBody>
      </p:sp>
      <p:sp>
        <p:nvSpPr>
          <p:cNvPr id="27" name="Text 25"/>
          <p:cNvSpPr txBox="1"/>
          <p:nvPr/>
        </p:nvSpPr>
        <p:spPr>
          <a:xfrm>
            <a:off x="9482328" y="2331720"/>
            <a:ext cx="1965960" cy="8686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frontend tests passing</a:t>
            </a:r>
            <a:endParaRPr lang="en-US" sz="1300" dirty="0"/>
          </a:p>
        </p:txBody>
      </p:sp>
      <p:sp>
        <p:nvSpPr>
          <p:cNvPr id="28" name="Shape 26"/>
          <p:cNvSpPr/>
          <p:nvPr/>
        </p:nvSpPr>
        <p:spPr>
          <a:xfrm>
            <a:off x="6949440" y="3474720"/>
            <a:ext cx="2240280" cy="1920240"/>
          </a:xfrm>
          <a:prstGeom prst="roundRect">
            <a:avLst>
              <a:gd name="adj" fmla="val 5714"/>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29" name="Text 27"/>
          <p:cNvSpPr txBox="1"/>
          <p:nvPr/>
        </p:nvSpPr>
        <p:spPr>
          <a:xfrm>
            <a:off x="7086600" y="3657600"/>
            <a:ext cx="1965960" cy="731520"/>
          </a:xfrm>
          <a:prstGeom prst="rect">
            <a:avLst/>
          </a:prstGeom>
          <a:noFill/>
          <a:ln/>
        </p:spPr>
        <p:txBody>
          <a:bodyPr wrap="square" lIns="0" tIns="0" rIns="0" bIns="0" rtlCol="0" anchor="ctr"/>
          <a:lstStyle/>
          <a:p>
            <a:pPr algn="ctr" indent="0" marL="0">
              <a:buNone/>
            </a:pPr>
            <a:r>
              <a:rPr lang="en-US" sz="3200" b="1" dirty="0">
                <a:solidFill>
                  <a:srgbClr val="138808"/>
                </a:solidFill>
                <a:latin typeface="Cambria" pitchFamily="34" charset="0"/>
                <a:ea typeface="Cambria" pitchFamily="34" charset="-122"/>
                <a:cs typeface="Cambria" pitchFamily="34" charset="-120"/>
              </a:rPr>
              <a:t>5 to 13%</a:t>
            </a:r>
            <a:endParaRPr lang="en-US" sz="3200" dirty="0"/>
          </a:p>
        </p:txBody>
      </p:sp>
      <p:sp>
        <p:nvSpPr>
          <p:cNvPr id="30" name="Text 28"/>
          <p:cNvSpPr txBox="1"/>
          <p:nvPr/>
        </p:nvSpPr>
        <p:spPr>
          <a:xfrm>
            <a:off x="7086600" y="4434840"/>
            <a:ext cx="1965960" cy="8686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forecast back-test error on simulated plants</a:t>
            </a:r>
            <a:endParaRPr lang="en-US" sz="1300" dirty="0"/>
          </a:p>
        </p:txBody>
      </p:sp>
      <p:sp>
        <p:nvSpPr>
          <p:cNvPr id="31" name="Shape 29"/>
          <p:cNvSpPr/>
          <p:nvPr/>
        </p:nvSpPr>
        <p:spPr>
          <a:xfrm>
            <a:off x="9345168" y="3474720"/>
            <a:ext cx="2240280" cy="1920240"/>
          </a:xfrm>
          <a:prstGeom prst="roundRect">
            <a:avLst>
              <a:gd name="adj" fmla="val 5714"/>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32" name="Text 30"/>
          <p:cNvSpPr txBox="1"/>
          <p:nvPr/>
        </p:nvSpPr>
        <p:spPr>
          <a:xfrm>
            <a:off x="9482328" y="3657600"/>
            <a:ext cx="1965960" cy="731520"/>
          </a:xfrm>
          <a:prstGeom prst="rect">
            <a:avLst/>
          </a:prstGeom>
          <a:noFill/>
          <a:ln/>
        </p:spPr>
        <p:txBody>
          <a:bodyPr wrap="square" lIns="0" tIns="0" rIns="0" bIns="0" rtlCol="0" anchor="ctr"/>
          <a:lstStyle/>
          <a:p>
            <a:pPr algn="ctr" indent="0" marL="0">
              <a:buNone/>
            </a:pPr>
            <a:r>
              <a:rPr lang="en-US" sz="3200" b="1" dirty="0">
                <a:solidFill>
                  <a:srgbClr val="138808"/>
                </a:solidFill>
                <a:latin typeface="Cambria" pitchFamily="34" charset="0"/>
                <a:ea typeface="Cambria" pitchFamily="34" charset="-122"/>
                <a:cs typeface="Cambria" pitchFamily="34" charset="-120"/>
              </a:rPr>
              <a:t>+14.5%</a:t>
            </a:r>
            <a:endParaRPr lang="en-US" sz="3200" dirty="0"/>
          </a:p>
        </p:txBody>
      </p:sp>
      <p:sp>
        <p:nvSpPr>
          <p:cNvPr id="33" name="Text 31"/>
          <p:cNvSpPr txBox="1"/>
          <p:nvPr/>
        </p:nvSpPr>
        <p:spPr>
          <a:xfrm>
            <a:off x="9482328" y="4434840"/>
            <a:ext cx="1965960" cy="868680"/>
          </a:xfrm>
          <a:prstGeom prst="rect">
            <a:avLst/>
          </a:prstGeom>
          <a:noFill/>
          <a:ln/>
        </p:spPr>
        <p:txBody>
          <a:bodyPr wrap="square" lIns="0" tIns="0" rIns="0" bIns="0" rtlCol="0" anchor="t"/>
          <a:lstStyle/>
          <a:p>
            <a:pPr algn="ctr" indent="0" marL="0">
              <a:buNone/>
            </a:pPr>
            <a:r>
              <a:rPr lang="en-US" sz="1300" dirty="0">
                <a:solidFill>
                  <a:srgbClr val="5C6470"/>
                </a:solidFill>
                <a:latin typeface="Calibri" pitchFamily="34" charset="0"/>
                <a:ea typeface="Calibri" pitchFamily="34" charset="-122"/>
                <a:cs typeface="Calibri" pitchFamily="34" charset="-120"/>
              </a:rPr>
              <a:t>water per unit trend found in the dairy sample (planted problem)</a:t>
            </a:r>
            <a:endParaRPr lang="en-US" sz="1300" dirty="0"/>
          </a:p>
        </p:txBody>
      </p:sp>
      <p:sp>
        <p:nvSpPr>
          <p:cNvPr id="34" name="Text 32"/>
          <p:cNvSpPr txBox="1"/>
          <p:nvPr/>
        </p:nvSpPr>
        <p:spPr>
          <a:xfrm>
            <a:off x="6949440" y="5623560"/>
            <a:ext cx="4663440" cy="502920"/>
          </a:xfrm>
          <a:prstGeom prst="rect">
            <a:avLst/>
          </a:prstGeom>
          <a:noFill/>
          <a:ln/>
        </p:spPr>
        <p:txBody>
          <a:bodyPr wrap="square" lIns="0" tIns="0" rIns="0" bIns="0" rtlCol="0" anchor="t"/>
          <a:lstStyle/>
          <a:p>
            <a:pPr indent="0" marL="0">
              <a:buNone/>
            </a:pPr>
            <a:r>
              <a:rPr lang="en-US" sz="1300" dirty="0">
                <a:solidFill>
                  <a:srgbClr val="1F2430"/>
                </a:solidFill>
                <a:latin typeface="Calibri" pitchFamily="34" charset="0"/>
                <a:ea typeface="Calibri" pitchFamily="34" charset="-122"/>
                <a:cs typeface="Calibri" pitchFamily="34" charset="-120"/>
              </a:rPr>
              <a:t>Photo inspection of a scratched test plate: verdict fail, defect scratch, 98% confidence.</a:t>
            </a:r>
            <a:endParaRPr lang="en-US" sz="1300" dirty="0"/>
          </a:p>
        </p:txBody>
      </p:sp>
      <p:sp>
        <p:nvSpPr>
          <p:cNvPr id="35" name="Text 33"/>
          <p:cNvSpPr txBox="1"/>
          <p:nvPr/>
        </p:nvSpPr>
        <p:spPr>
          <a:xfrm>
            <a:off x="548640" y="5760720"/>
            <a:ext cx="6035040" cy="548640"/>
          </a:xfrm>
          <a:prstGeom prst="rect">
            <a:avLst/>
          </a:prstGeom>
          <a:noFill/>
          <a:ln/>
        </p:spPr>
        <p:txBody>
          <a:bodyPr wrap="square" lIns="0" tIns="0" rIns="0" bIns="0" rtlCol="0" anchor="t"/>
          <a:lstStyle/>
          <a:p>
            <a:pPr indent="0" marL="0">
              <a:buNone/>
            </a:pPr>
            <a:r>
              <a:rPr lang="en-US" sz="1100" dirty="0">
                <a:solidFill>
                  <a:srgbClr val="5C6470"/>
                </a:solidFill>
                <a:latin typeface="Calibri" pitchFamily="34" charset="0"/>
                <a:ea typeface="Calibri" pitchFamily="34" charset="-122"/>
                <a:cs typeface="Calibri" pitchFamily="34" charset="-120"/>
              </a:rPr>
              <a:t>Measured 18 Oct 2026 on a laptop through the web proxy; AI timings are single live runs, analytics are the median of five. The plant data behind the forecast is simulated.</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Additional details: what comes next and what is limited today</a:t>
            </a:r>
            <a:endParaRPr lang="en-US" sz="3000" dirty="0"/>
          </a:p>
        </p:txBody>
      </p:sp>
      <p:sp>
        <p:nvSpPr>
          <p:cNvPr id="3" name="Shape 1"/>
          <p:cNvSpPr/>
          <p:nvPr/>
        </p:nvSpPr>
        <p:spPr>
          <a:xfrm>
            <a:off x="548640" y="1417320"/>
            <a:ext cx="5486400" cy="4709160"/>
          </a:xfrm>
          <a:prstGeom prst="roundRect">
            <a:avLst>
              <a:gd name="adj" fmla="val 2330"/>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309360" y="1417320"/>
            <a:ext cx="5303520" cy="4709160"/>
          </a:xfrm>
          <a:prstGeom prst="roundRect">
            <a:avLst>
              <a:gd name="adj" fmla="val 2330"/>
            </a:avLst>
          </a:prstGeom>
          <a:solidFill>
            <a:srgbClr val="FFF6EA"/>
          </a:solidFill>
          <a:ln w="12700">
            <a:solidFill>
              <a:srgbClr val="F6D9AE"/>
            </a:solidFill>
            <a:prstDash val="solid"/>
          </a:ln>
        </p:spPr>
      </p:sp>
      <p:sp>
        <p:nvSpPr>
          <p:cNvPr id="5" name="Text 3"/>
          <p:cNvSpPr txBox="1"/>
          <p:nvPr/>
        </p:nvSpPr>
        <p:spPr>
          <a:xfrm>
            <a:off x="822960" y="1600200"/>
            <a:ext cx="4572000" cy="457200"/>
          </a:xfrm>
          <a:prstGeom prst="rect">
            <a:avLst/>
          </a:prstGeom>
          <a:noFill/>
          <a:ln/>
        </p:spPr>
        <p:txBody>
          <a:bodyPr wrap="square" lIns="0" tIns="0" rIns="0" bIns="0" rtlCol="0" anchor="ctr"/>
          <a:lstStyle/>
          <a:p>
            <a:pPr indent="0" marL="0">
              <a:buNone/>
            </a:pPr>
            <a:r>
              <a:rPr lang="en-US" sz="2200" b="1" dirty="0">
                <a:solidFill>
                  <a:srgbClr val="0E1730"/>
                </a:solidFill>
                <a:latin typeface="Cambria" pitchFamily="34" charset="0"/>
                <a:ea typeface="Cambria" pitchFamily="34" charset="-122"/>
                <a:cs typeface="Cambria" pitchFamily="34" charset="-120"/>
              </a:rPr>
              <a:t>Build next</a:t>
            </a:r>
            <a:endParaRPr lang="en-US" sz="2200" dirty="0"/>
          </a:p>
        </p:txBody>
      </p:sp>
      <p:sp>
        <p:nvSpPr>
          <p:cNvPr id="6" name="Text 4"/>
          <p:cNvSpPr txBox="1"/>
          <p:nvPr/>
        </p:nvSpPr>
        <p:spPr>
          <a:xfrm>
            <a:off x="822960" y="2194560"/>
            <a:ext cx="4937760" cy="37490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Google login and saved chats (Firebase)</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Plant data pipeline: BigQuery, Pub/Sub, Dataflow</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Forecasting and anomaly models on Vertex AI</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Upload sensor and sales files, Excel as well as CSV</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Exact map pins with the Google Maps API</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Realistic 3D models (Blender)</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Measure inspection accuracy on real products</a:t>
            </a:r>
            <a:endParaRPr lang="en-US" sz="1500" dirty="0"/>
          </a:p>
        </p:txBody>
      </p:sp>
      <p:sp>
        <p:nvSpPr>
          <p:cNvPr id="7" name="Text 5"/>
          <p:cNvSpPr txBox="1"/>
          <p:nvPr/>
        </p:nvSpPr>
        <p:spPr>
          <a:xfrm>
            <a:off x="6583680" y="1600200"/>
            <a:ext cx="4572000" cy="457200"/>
          </a:xfrm>
          <a:prstGeom prst="rect">
            <a:avLst/>
          </a:prstGeom>
          <a:noFill/>
          <a:ln/>
        </p:spPr>
        <p:txBody>
          <a:bodyPr wrap="square" lIns="0" tIns="0" rIns="0" bIns="0" rtlCol="0" anchor="ctr"/>
          <a:lstStyle/>
          <a:p>
            <a:pPr indent="0" marL="0">
              <a:buNone/>
            </a:pPr>
            <a:r>
              <a:rPr lang="en-US" sz="2200" b="1" dirty="0">
                <a:solidFill>
                  <a:srgbClr val="8A6A3B"/>
                </a:solidFill>
                <a:latin typeface="Cambria" pitchFamily="34" charset="0"/>
                <a:ea typeface="Cambria" pitchFamily="34" charset="-122"/>
                <a:cs typeface="Cambria" pitchFamily="34" charset="-120"/>
              </a:rPr>
              <a:t>Honest limits today</a:t>
            </a:r>
            <a:endParaRPr lang="en-US" sz="2200" dirty="0"/>
          </a:p>
        </p:txBody>
      </p:sp>
      <p:sp>
        <p:nvSpPr>
          <p:cNvPr id="8" name="Text 6"/>
          <p:cNvSpPr txBox="1"/>
          <p:nvPr/>
        </p:nvSpPr>
        <p:spPr>
          <a:xfrm>
            <a:off x="6583680" y="2194560"/>
            <a:ext cx="4846320" cy="37490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Machine, production, quality and demand numbers are simulated until a CSV is loaded</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Prices are indicative web figures, not quotes</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Location ranking is AI judgement; some places are not pinned</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People, animals and machines are stylised</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Hand control not tested with a real hand</a:t>
            </a:r>
            <a:endParaRPr lang="en-US" sz="1500" dirty="0"/>
          </a:p>
          <a:p>
            <a:pPr marL="342900" indent="-342900">
              <a:spcAft>
                <a:spcPts val="900"/>
              </a:spcAft>
              <a:buSzPct val="100000"/>
              <a:buChar char="•"/>
            </a:pPr>
            <a:r>
              <a:rPr lang="en-US" sz="1500" dirty="0">
                <a:solidFill>
                  <a:srgbClr val="1F2430"/>
                </a:solidFill>
                <a:latin typeface="Calibri" pitchFamily="34" charset="0"/>
                <a:ea typeface="Calibri" pitchFamily="34" charset="-122"/>
                <a:cs typeface="Calibri" pitchFamily="34" charset="-120"/>
              </a:rPr>
              <a:t>Nothing is stored on the server</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Links</a:t>
            </a:r>
            <a:endParaRPr lang="en-US" sz="3000" dirty="0"/>
          </a:p>
        </p:txBody>
      </p:sp>
      <p:sp>
        <p:nvSpPr>
          <p:cNvPr id="3" name="Shape 1"/>
          <p:cNvSpPr/>
          <p:nvPr/>
        </p:nvSpPr>
        <p:spPr>
          <a:xfrm>
            <a:off x="548640" y="1554480"/>
            <a:ext cx="11064240" cy="1234440"/>
          </a:xfrm>
          <a:prstGeom prst="roundRect">
            <a:avLst>
              <a:gd name="adj" fmla="val 8889"/>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4" name="Image 0" descr="GitHub public repository">    </p:cNvPr>
          <p:cNvPicPr>
            <a:picLocks noChangeAspect="1"/>
          </p:cNvPicPr>
          <p:nvPr/>
        </p:nvPicPr>
        <p:blipFill>
          <a:blip r:embed="rId1"/>
          <a:stretch>
            <a:fillRect/>
          </a:stretch>
        </p:blipFill>
        <p:spPr>
          <a:xfrm>
            <a:off x="868680" y="1920240"/>
            <a:ext cx="502920" cy="502920"/>
          </a:xfrm>
          <a:prstGeom prst="rect">
            <a:avLst/>
          </a:prstGeom>
        </p:spPr>
      </p:pic>
      <p:sp>
        <p:nvSpPr>
          <p:cNvPr id="5" name="Text 2"/>
          <p:cNvSpPr txBox="1"/>
          <p:nvPr/>
        </p:nvSpPr>
        <p:spPr>
          <a:xfrm>
            <a:off x="1645920" y="1737360"/>
            <a:ext cx="9144000" cy="411480"/>
          </a:xfrm>
          <a:prstGeom prst="rect">
            <a:avLst/>
          </a:prstGeom>
          <a:noFill/>
          <a:ln/>
        </p:spPr>
        <p:txBody>
          <a:bodyPr wrap="square" lIns="0" tIns="0" rIns="0" bIns="0" rtlCol="0" anchor="ctr"/>
          <a:lstStyle/>
          <a:p>
            <a:pPr indent="0" marL="0">
              <a:buNone/>
            </a:pPr>
            <a:r>
              <a:rPr lang="en-US" sz="1800" b="1" dirty="0">
                <a:solidFill>
                  <a:srgbClr val="0E1730"/>
                </a:solidFill>
                <a:latin typeface="Calibri" pitchFamily="34" charset="0"/>
                <a:ea typeface="Calibri" pitchFamily="34" charset="-122"/>
                <a:cs typeface="Calibri" pitchFamily="34" charset="-120"/>
              </a:rPr>
              <a:t>GitHub public repository</a:t>
            </a:r>
            <a:endParaRPr lang="en-US" sz="1800" dirty="0"/>
          </a:p>
        </p:txBody>
      </p:sp>
      <p:sp>
        <p:nvSpPr>
          <p:cNvPr id="6" name="Text 3">
            <a:hlinkClick r:id="rId2" tooltip=""/>
          </p:cNvPr>
          <p:cNvSpPr txBox="1"/>
          <p:nvPr/>
        </p:nvSpPr>
        <p:spPr>
          <a:xfrm>
            <a:off x="1645920" y="2212848"/>
            <a:ext cx="9601200" cy="411480"/>
          </a:xfrm>
          <a:prstGeom prst="rect">
            <a:avLst/>
          </a:prstGeom>
          <a:noFill/>
          <a:ln/>
        </p:spPr>
        <p:txBody>
          <a:bodyPr wrap="square" lIns="0" tIns="0" rIns="0" bIns="0" rtlCol="0" anchor="ctr"/>
          <a:lstStyle/>
          <a:p>
            <a:pPr indent="0" marL="0">
              <a:buNone/>
            </a:pPr>
            <a:r>
              <a:rPr lang="en-US" sz="1700" u="sng" dirty="0">
                <a:solidFill>
                  <a:srgbClr val="138808"/>
                </a:solidFill>
                <a:hlinkClick r:id="rId2" invalidUrl="" action="" tgtFrame="" tooltip="" history="1" highlightClick="0" endSnd="0">
                  <a:extLst>
                    <a:ext uri="{A12FA001-AC4F-418D-AE19-62706E023703}">
                      <ahyp:hlinkClr xmlns:ahyp="http://schemas.microsoft.com/office/drawing/2018/hyperlinkcolor" val="tx"/>
                    </a:ext>
                  </a:extLst>
                </a:hlinkClick>
              </a:rPr>
              <a:t>https://github.com/sleepyowl1208/GoogleHackathon_QuantarisAI</a:t>
            </a:r>
            <a:endParaRPr lang="en-US" sz="1700" dirty="0"/>
          </a:p>
        </p:txBody>
      </p:sp>
      <p:sp>
        <p:nvSpPr>
          <p:cNvPr id="7" name="Shape 4"/>
          <p:cNvSpPr/>
          <p:nvPr/>
        </p:nvSpPr>
        <p:spPr>
          <a:xfrm>
            <a:off x="548640" y="3063240"/>
            <a:ext cx="11064240" cy="1234440"/>
          </a:xfrm>
          <a:prstGeom prst="roundRect">
            <a:avLst>
              <a:gd name="adj" fmla="val 8889"/>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8" name="Image 1" descr="Demo video (3 minutes)">    </p:cNvPr>
          <p:cNvPicPr>
            <a:picLocks noChangeAspect="1"/>
          </p:cNvPicPr>
          <p:nvPr/>
        </p:nvPicPr>
        <p:blipFill>
          <a:blip r:embed="rId3"/>
          <a:stretch>
            <a:fillRect/>
          </a:stretch>
        </p:blipFill>
        <p:spPr>
          <a:xfrm>
            <a:off x="868680" y="3429000"/>
            <a:ext cx="502920" cy="502920"/>
          </a:xfrm>
          <a:prstGeom prst="rect">
            <a:avLst/>
          </a:prstGeom>
        </p:spPr>
      </p:pic>
      <p:sp>
        <p:nvSpPr>
          <p:cNvPr id="9" name="Text 5"/>
          <p:cNvSpPr txBox="1"/>
          <p:nvPr/>
        </p:nvSpPr>
        <p:spPr>
          <a:xfrm>
            <a:off x="1645920" y="3246120"/>
            <a:ext cx="9144000" cy="411480"/>
          </a:xfrm>
          <a:prstGeom prst="rect">
            <a:avLst/>
          </a:prstGeom>
          <a:noFill/>
          <a:ln/>
        </p:spPr>
        <p:txBody>
          <a:bodyPr wrap="square" lIns="0" tIns="0" rIns="0" bIns="0" rtlCol="0" anchor="ctr"/>
          <a:lstStyle/>
          <a:p>
            <a:pPr indent="0" marL="0">
              <a:buNone/>
            </a:pPr>
            <a:r>
              <a:rPr lang="en-US" sz="1800" b="1" dirty="0">
                <a:solidFill>
                  <a:srgbClr val="0E1730"/>
                </a:solidFill>
                <a:latin typeface="Calibri" pitchFamily="34" charset="0"/>
                <a:ea typeface="Calibri" pitchFamily="34" charset="-122"/>
                <a:cs typeface="Calibri" pitchFamily="34" charset="-120"/>
              </a:rPr>
              <a:t>Demo video (3 minutes)</a:t>
            </a:r>
            <a:endParaRPr lang="en-US" sz="1800" dirty="0"/>
          </a:p>
        </p:txBody>
      </p:sp>
      <p:sp>
        <p:nvSpPr>
          <p:cNvPr id="10" name="Text 6"/>
          <p:cNvSpPr txBox="1"/>
          <p:nvPr/>
        </p:nvSpPr>
        <p:spPr>
          <a:xfrm>
            <a:off x="1645920" y="3721608"/>
            <a:ext cx="9601200" cy="411480"/>
          </a:xfrm>
          <a:prstGeom prst="rect">
            <a:avLst/>
          </a:prstGeom>
          <a:noFill/>
          <a:ln/>
        </p:spPr>
        <p:txBody>
          <a:bodyPr wrap="square" lIns="0" tIns="0" rIns="0" bIns="0" rtlCol="0" anchor="ctr"/>
          <a:lstStyle/>
          <a:p>
            <a:pPr indent="0" marL="0">
              <a:buNone/>
            </a:pPr>
            <a:r>
              <a:rPr lang="en-US" sz="1700" dirty="0">
                <a:solidFill>
                  <a:srgbClr val="C0392B"/>
                </a:solidFill>
                <a:latin typeface="Calibri" pitchFamily="34" charset="0"/>
                <a:ea typeface="Calibri" pitchFamily="34" charset="-122"/>
                <a:cs typeface="Calibri" pitchFamily="34" charset="-120"/>
              </a:rPr>
              <a:t>[add the video link]</a:t>
            </a:r>
            <a:endParaRPr lang="en-US" sz="1700" dirty="0"/>
          </a:p>
        </p:txBody>
      </p:sp>
      <p:sp>
        <p:nvSpPr>
          <p:cNvPr id="11" name="Shape 7"/>
          <p:cNvSpPr/>
          <p:nvPr/>
        </p:nvSpPr>
        <p:spPr>
          <a:xfrm>
            <a:off x="548640" y="4572000"/>
            <a:ext cx="11064240" cy="1234440"/>
          </a:xfrm>
          <a:prstGeom prst="roundRect">
            <a:avLst>
              <a:gd name="adj" fmla="val 8889"/>
            </a:avLst>
          </a:prstGeom>
          <a:solidFill>
            <a:srgbClr val="FFFFFF"/>
          </a:solidFill>
          <a:ln w="12700">
            <a:solidFill>
              <a:srgbClr val="D9DEDC"/>
            </a:solidFill>
            <a:prstDash val="solid"/>
          </a:ln>
          <a:effectLst>
            <a:outerShdw sx="100000" sy="100000" kx="0" ky="0" algn="bl" rotWithShape="0" blurRad="101600" dist="25400" dir="5400000">
              <a:srgbClr val="000000">
                <a:alpha val="12000"/>
              </a:srgbClr>
            </a:outerShdw>
          </a:effectLst>
        </p:spPr>
      </p:sp>
      <p:pic>
        <p:nvPicPr>
          <p:cNvPr id="12" name="Image 2" descr="Final product link">    </p:cNvPr>
          <p:cNvPicPr>
            <a:picLocks noChangeAspect="1"/>
          </p:cNvPicPr>
          <p:nvPr/>
        </p:nvPicPr>
        <p:blipFill>
          <a:blip r:embed="rId4"/>
          <a:stretch>
            <a:fillRect/>
          </a:stretch>
        </p:blipFill>
        <p:spPr>
          <a:xfrm>
            <a:off x="868680" y="4937760"/>
            <a:ext cx="502920" cy="502920"/>
          </a:xfrm>
          <a:prstGeom prst="rect">
            <a:avLst/>
          </a:prstGeom>
        </p:spPr>
      </p:pic>
      <p:sp>
        <p:nvSpPr>
          <p:cNvPr id="13" name="Text 8"/>
          <p:cNvSpPr txBox="1"/>
          <p:nvPr/>
        </p:nvSpPr>
        <p:spPr>
          <a:xfrm>
            <a:off x="1645920" y="4754880"/>
            <a:ext cx="9144000" cy="411480"/>
          </a:xfrm>
          <a:prstGeom prst="rect">
            <a:avLst/>
          </a:prstGeom>
          <a:noFill/>
          <a:ln/>
        </p:spPr>
        <p:txBody>
          <a:bodyPr wrap="square" lIns="0" tIns="0" rIns="0" bIns="0" rtlCol="0" anchor="ctr"/>
          <a:lstStyle/>
          <a:p>
            <a:pPr indent="0" marL="0">
              <a:buNone/>
            </a:pPr>
            <a:r>
              <a:rPr lang="en-US" sz="1800" b="1" dirty="0">
                <a:solidFill>
                  <a:srgbClr val="0E1730"/>
                </a:solidFill>
                <a:latin typeface="Calibri" pitchFamily="34" charset="0"/>
                <a:ea typeface="Calibri" pitchFamily="34" charset="-122"/>
                <a:cs typeface="Calibri" pitchFamily="34" charset="-120"/>
              </a:rPr>
              <a:t>Final product link</a:t>
            </a:r>
            <a:endParaRPr lang="en-US" sz="1800" dirty="0"/>
          </a:p>
        </p:txBody>
      </p:sp>
      <p:sp>
        <p:nvSpPr>
          <p:cNvPr id="14" name="Text 9"/>
          <p:cNvSpPr txBox="1"/>
          <p:nvPr/>
        </p:nvSpPr>
        <p:spPr>
          <a:xfrm>
            <a:off x="1645920" y="5230368"/>
            <a:ext cx="9601200" cy="411480"/>
          </a:xfrm>
          <a:prstGeom prst="rect">
            <a:avLst/>
          </a:prstGeom>
          <a:noFill/>
          <a:ln/>
        </p:spPr>
        <p:txBody>
          <a:bodyPr wrap="square" lIns="0" tIns="0" rIns="0" bIns="0" rtlCol="0" anchor="ctr"/>
          <a:lstStyle/>
          <a:p>
            <a:pPr indent="0" marL="0">
              <a:buNone/>
            </a:pPr>
            <a:r>
              <a:rPr lang="en-US" sz="1700" dirty="0">
                <a:solidFill>
                  <a:srgbClr val="C0392B"/>
                </a:solidFill>
                <a:latin typeface="Calibri" pitchFamily="34" charset="0"/>
                <a:ea typeface="Calibri" pitchFamily="34" charset="-122"/>
                <a:cs typeface="Calibri" pitchFamily="34" charset="-120"/>
              </a:rPr>
              <a:t>[add the Cloud Run URL after deploying]</a:t>
            </a:r>
            <a:endParaRPr lang="en-US" sz="17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rgbClr val="0E1730"/>
                </a:solidFill>
                <a:latin typeface="Cambria" pitchFamily="34" charset="0"/>
                <a:ea typeface="Cambria" pitchFamily="34" charset="-122"/>
                <a:cs typeface="Cambria" pitchFamily="34" charset="-120"/>
              </a:rPr>
              <a:t>The seven suggested directions: what is real today</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834640"/>
                <a:gridCol w="5120640"/>
                <a:gridCol w="3108960"/>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Direction</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0E17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0E1730"/>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0E1730"/>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Predictive maintenance</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Trend and time-to-limit per machine; schedule the fix</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300" b="1" dirty="0">
                          <a:solidFill>
                            <a:srgbClr val="8A6A3B"/>
                          </a:solidFill>
                          <a:latin typeface="Calibri" pitchFamily="34" charset="0"/>
                          <a:ea typeface="Calibri" pitchFamily="34" charset="-122"/>
                          <a:cs typeface="Calibri" pitchFamily="34" charset="-120"/>
                        </a:rPr>
                        <a:t>Simulated data; CSV upload next</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Visual quality inspection</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Gemini vision finds defects in your photo</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300" b="1" dirty="0">
                          <a:solidFill>
                            <a:srgbClr val="138808"/>
                          </a:solidFill>
                          <a:latin typeface="Calibri" pitchFamily="34" charset="0"/>
                          <a:ea typeface="Calibri" pitchFamily="34" charset="-122"/>
                          <a:cs typeface="Calibri" pitchFamily="34" charset="-120"/>
                        </a:rPr>
                        <a:t>Real</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Production optimization</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Bottleneck, OEE, capacity what-if</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300" b="1" dirty="0">
                          <a:solidFill>
                            <a:srgbClr val="8A6A3B"/>
                          </a:solidFill>
                          <a:latin typeface="Calibri" pitchFamily="34" charset="0"/>
                          <a:ea typeface="Calibri" pitchFamily="34" charset="-122"/>
                          <a:cs typeface="Calibri" pitchFamily="34" charset="-120"/>
                        </a:rPr>
                        <a:t>Simulated data</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Supply-chain intelligence</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Nearest sources, lead time, risks, order-by week</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300" b="1" dirty="0">
                          <a:solidFill>
                            <a:srgbClr val="8A6A3B"/>
                          </a:solidFill>
                          <a:latin typeface="Calibri" pitchFamily="34" charset="0"/>
                          <a:ea typeface="Calibri" pitchFamily="34" charset="-122"/>
                          <a:cs typeface="Calibri" pitchFamily="34" charset="-120"/>
                        </a:rPr>
                        <a:t>Real research, simulated risk figures</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Demand forecasting</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13-week range, back-tested error shown</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300" b="1" dirty="0">
                          <a:solidFill>
                            <a:srgbClr val="8A6A3B"/>
                          </a:solidFill>
                          <a:latin typeface="Calibri" pitchFamily="34" charset="0"/>
                          <a:ea typeface="Calibri" pitchFamily="34" charset="-122"/>
                          <a:cs typeface="Calibri" pitchFamily="34" charset="-120"/>
                        </a:rPr>
                        <a:t>Simulated history</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Waste reduction</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Reuse loops; water and waste balance from your CSV</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c>
                  <a:txBody>
                    <a:bodyPr/>
                    <a:lstStyle/>
                    <a:p>
                      <a:pPr indent="0" marL="0">
                        <a:buNone/>
                      </a:pPr>
                      <a:r>
                        <a:rPr lang="en-US" sz="1300" b="1" dirty="0">
                          <a:solidFill>
                            <a:srgbClr val="138808"/>
                          </a:solidFill>
                          <a:latin typeface="Calibri" pitchFamily="34" charset="0"/>
                          <a:ea typeface="Calibri" pitchFamily="34" charset="-122"/>
                          <a:cs typeface="Calibri" pitchFamily="34" charset="-120"/>
                        </a:rPr>
                        <a:t>Real on your data</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0E1730"/>
                          </a:solidFill>
                          <a:latin typeface="Calibri" pitchFamily="34" charset="0"/>
                          <a:ea typeface="Calibri" pitchFamily="34" charset="-122"/>
                          <a:cs typeface="Calibri" pitchFamily="34" charset="-120"/>
                        </a:rPr>
                        <a:t>Operational copilot</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400" dirty="0">
                          <a:solidFill>
                            <a:srgbClr val="000000"/>
                          </a:solidFill>
                          <a:latin typeface="Calibri" pitchFamily="34" charset="0"/>
                          <a:ea typeface="Calibri" pitchFamily="34" charset="-122"/>
                          <a:cs typeface="Calibri" pitchFamily="34" charset="-120"/>
                        </a:rPr>
                        <a:t>Voice and text; quotes only computed numbers</a:t>
                      </a:r>
                      <a:endParaRPr lang="en-US" sz="14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c>
                  <a:txBody>
                    <a:bodyPr/>
                    <a:lstStyle/>
                    <a:p>
                      <a:pPr indent="0" marL="0">
                        <a:buNone/>
                      </a:pPr>
                      <a:r>
                        <a:rPr lang="en-US" sz="1300" b="1" dirty="0">
                          <a:solidFill>
                            <a:srgbClr val="138808"/>
                          </a:solidFill>
                          <a:latin typeface="Calibri" pitchFamily="34" charset="0"/>
                          <a:ea typeface="Calibri" pitchFamily="34" charset="-122"/>
                          <a:cs typeface="Calibri" pitchFamily="34" charset="-120"/>
                        </a:rPr>
                        <a:t>Real</a:t>
                      </a:r>
                      <a:endParaRPr lang="en-US" sz="1300" dirty="0">
                        <a:latin typeface="Calibri" charset="0"/>
                        <a:ea typeface="Calibri" charset="0"/>
                        <a:cs typeface="Calibri" charset="0"/>
                      </a:endParaRPr>
                    </a:p>
                  </a:txBody>
                  <a:tcPr marL="91440" marR="91440" marT="45720" marB="45720" anchor="ctr">
                    <a:lnL w="9525" cap="flat" cmpd="sng" algn="ctr">
                      <a:solidFill>
                        <a:srgbClr val="D9DEDC"/>
                      </a:solidFill>
                      <a:prstDash val="solid"/>
                      <a:round/>
                      <a:headEnd type="none" w="med" len="med"/>
                      <a:tailEnd type="none" w="med" len="med"/>
                    </a:lnL>
                    <a:lnR w="9525" cap="flat" cmpd="sng" algn="ctr">
                      <a:solidFill>
                        <a:srgbClr val="D9DEDC"/>
                      </a:solidFill>
                      <a:prstDash val="solid"/>
                      <a:round/>
                      <a:headEnd type="none" w="med" len="med"/>
                      <a:tailEnd type="none" w="med" len="med"/>
                    </a:lnR>
                    <a:lnT w="9525" cap="flat" cmpd="sng" algn="ctr">
                      <a:solidFill>
                        <a:srgbClr val="D9DEDC"/>
                      </a:solidFill>
                      <a:prstDash val="solid"/>
                      <a:round/>
                      <a:headEnd type="none" w="med" len="med"/>
                      <a:tailEnd type="none" w="med" len="med"/>
                    </a:lnT>
                    <a:lnB w="9525" cap="flat" cmpd="sng" algn="ctr">
                      <a:solidFill>
                        <a:srgbClr val="D9DEDC"/>
                      </a:solidFill>
                      <a:prstDash val="solid"/>
                      <a:round/>
                      <a:headEnd type="none" w="med" len="med"/>
                      <a:tailEnd type="none" w="med" len="med"/>
                    </a:lnB>
                    <a:solidFill>
                      <a:srgbClr val="F3F5F4"/>
                    </a:solidFill>
                  </a:tcPr>
                </a:tc>
              </a:tr>
            </a:tbl>
          </a:graphicData>
        </a:graphic>
      </p:graphicFrame>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64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22960" y="1737360"/>
            <a:ext cx="10515600"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Describe it. Place it. Run it clean.</a:t>
            </a:r>
            <a:endParaRPr lang="en-US" sz="4000" dirty="0"/>
          </a:p>
        </p:txBody>
      </p:sp>
      <p:sp>
        <p:nvSpPr>
          <p:cNvPr id="3" name="Text 1"/>
          <p:cNvSpPr txBox="1"/>
          <p:nvPr/>
        </p:nvSpPr>
        <p:spPr>
          <a:xfrm>
            <a:off x="822960" y="3200400"/>
            <a:ext cx="9326880" cy="1280160"/>
          </a:xfrm>
          <a:prstGeom prst="rect">
            <a:avLst/>
          </a:prstGeom>
          <a:noFill/>
          <a:ln/>
        </p:spPr>
        <p:txBody>
          <a:bodyPr wrap="square" lIns="0" tIns="0" rIns="0" bIns="0" rtlCol="0" anchor="t"/>
          <a:lstStyle/>
          <a:p>
            <a:pPr indent="0" marL="0">
              <a:buNone/>
            </a:pPr>
            <a:r>
              <a:rPr lang="en-US" sz="2200" dirty="0">
                <a:solidFill>
                  <a:srgbClr val="E7ECF5"/>
                </a:solidFill>
                <a:latin typeface="Calibri" pitchFamily="34" charset="0"/>
                <a:ea typeface="Calibri" pitchFamily="34" charset="-122"/>
                <a:cs typeface="Calibri" pitchFamily="34" charset="-120"/>
              </a:rPr>
              <a:t>QuantarisAI helps an owner with a raw material and a plan decide what to build, where, and how to cut water, smoke and waste, with the evidence shown and nothing faked.</a:t>
            </a:r>
            <a:endParaRPr lang="en-US" sz="2200" dirty="0"/>
          </a:p>
        </p:txBody>
      </p:sp>
      <p:sp>
        <p:nvSpPr>
          <p:cNvPr id="4" name="Text 2"/>
          <p:cNvSpPr txBox="1"/>
          <p:nvPr/>
        </p:nvSpPr>
        <p:spPr>
          <a:xfrm>
            <a:off x="822960" y="5120640"/>
            <a:ext cx="9144000" cy="457200"/>
          </a:xfrm>
          <a:prstGeom prst="rect">
            <a:avLst/>
          </a:prstGeom>
          <a:noFill/>
          <a:ln/>
        </p:spPr>
        <p:txBody>
          <a:bodyPr wrap="square" lIns="0" tIns="0" rIns="0" bIns="0" rtlCol="0" anchor="ctr"/>
          <a:lstStyle/>
          <a:p>
            <a:pPr indent="0" marL="0">
              <a:buNone/>
            </a:pPr>
            <a:r>
              <a:rPr lang="en-US" sz="1800" b="1" dirty="0">
                <a:solidFill>
                  <a:srgbClr val="FF9933"/>
                </a:solidFill>
                <a:latin typeface="Calibri" pitchFamily="34" charset="0"/>
                <a:ea typeface="Calibri" pitchFamily="34" charset="-122"/>
                <a:cs typeface="Calibri" pitchFamily="34" charset="-120"/>
              </a:rPr>
              <a:t>github.com/sleepyowl1208/GoogleHackathon_QuantarisAI</a:t>
            </a:r>
            <a:endParaRPr lang="en-US" sz="1800" dirty="0"/>
          </a:p>
        </p:txBody>
      </p:sp>
      <p:sp>
        <p:nvSpPr>
          <p:cNvPr id="5" name="Text 3"/>
          <p:cNvSpPr txBox="1"/>
          <p:nvPr/>
        </p:nvSpPr>
        <p:spPr>
          <a:xfrm>
            <a:off x="822960" y="5760720"/>
            <a:ext cx="5486400" cy="45720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Thank you</a:t>
            </a:r>
            <a:endParaRPr lang="en-US" sz="1800" dirty="0"/>
          </a:p>
        </p:txBody>
      </p:sp>
    </p:spTree>
  </p:cSld>
  <p:clrMapOvr>
    <a:masterClrMapping/>
  </p:clrMapOvr>
</p:sld>
</file>

<file path=ppt/theme/theme1.xml><?xml version="1.0" encoding="utf-8"?>
<a:theme xmlns:a="http://schemas.openxmlformats.org/drawingml/2006/main" name="Bharat Manufacturing">
  <a:themeElements>
    <a:clrScheme name="Bharat Manufacturing">
      <a:dk1>
        <a:srgbClr val="1F2430"/>
      </a:dk1>
      <a:lt1>
        <a:srgbClr val="FFFFFF"/>
      </a:lt1>
      <a:dk2>
        <a:srgbClr val="0E1730"/>
      </a:dk2>
      <a:lt2>
        <a:srgbClr val="F3F5F4"/>
      </a:lt2>
      <a:accent1>
        <a:srgbClr val="FF9933"/>
      </a:accent1>
      <a:accent2>
        <a:srgbClr val="138808"/>
      </a:accent2>
      <a:accent3>
        <a:srgbClr val="E8780C"/>
      </a:accent3>
      <a:accent4>
        <a:srgbClr val="6DBE5E"/>
      </a:accent4>
      <a:accent5>
        <a:srgbClr val="8A6A3B"/>
      </a:accent5>
      <a:accent6>
        <a:srgbClr val="3B82C4"/>
      </a:accent6>
      <a:hlink>
        <a:srgbClr val="138808"/>
      </a:hlink>
      <a:folHlink>
        <a:srgbClr val="6B5B2A"/>
      </a:folHlink>
    </a:clrScheme>
    <a:fontScheme name="Bharat Manufactur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QuantarisAI: AI Builder Cup submission</dc:title>
  <dc:subject>PptxGenJS Presentation</dc:subject>
  <dc:creator>Team QuantarisAI</dc:creator>
  <cp:lastModifiedBy>Team QuantarisAI</cp:lastModifiedBy>
  <cp:revision>1</cp:revision>
  <dcterms:created xsi:type="dcterms:W3CDTF">2026-10-18T12:56:47Z</dcterms:created>
  <dcterms:modified xsi:type="dcterms:W3CDTF">2026-10-18T12:56:47Z</dcterms:modified>
</cp:coreProperties>
</file>